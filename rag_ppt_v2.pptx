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9"/>
    <p:sldId id="270" r:id="rId8"/>
    <p:sldId id="271" r:id="rId7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郭 张莉" initials="郭" lastIdx="1" clrIdx="0"/>
  <p:cmAuthor id="2" name="王 雪微" initials="王" lastIdx="39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7216B"/>
    <a:srgbClr val="071F65"/>
    <a:srgbClr val="999999"/>
    <a:srgbClr val="0033CC"/>
    <a:srgbClr val="2F4174"/>
    <a:srgbClr val="B4DCB8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4" autoAdjust="0"/>
    <p:restoredTop sz="79240" autoAdjust="0"/>
  </p:normalViewPr>
  <p:slideViewPr>
    <p:cSldViewPr snapToGrid="0" showGuides="1">
      <p:cViewPr varScale="1">
        <p:scale>
          <a:sx n="83" d="100"/>
          <a:sy n="83" d="100"/>
        </p:scale>
        <p:origin x="102" y="96"/>
      </p:cViewPr>
      <p:guideLst>
        <p:guide orient="horz" pos="2160"/>
        <p:guide pos="3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tags" Target="tags/tag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F9DCF-6ECC-4FA4-9448-A596D85137A9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B368A-3671-4F88-BADC-FA098C99E5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2F064-BB66-4B13-AAD5-5972ECA900C0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0B6E3-D3FA-4C4F-BDFE-4E7507CC53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14344" y="-10757"/>
            <a:ext cx="12206344" cy="6893662"/>
            <a:chOff x="-10758" y="-10757"/>
            <a:chExt cx="9154758" cy="6893662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1" t="15092" r="13953" b="23868"/>
            <a:stretch>
              <a:fillRect/>
            </a:stretch>
          </p:blipFill>
          <p:spPr>
            <a:xfrm>
              <a:off x="-10758" y="0"/>
              <a:ext cx="9154758" cy="6858000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0" y="-10757"/>
              <a:ext cx="9144000" cy="6893662"/>
            </a:xfrm>
            <a:prstGeom prst="rect">
              <a:avLst/>
            </a:prstGeom>
            <a:solidFill>
              <a:srgbClr val="FFFFFF">
                <a:alpha val="9411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64" t="4996" r="43097" b="33964"/>
          <a:stretch>
            <a:fillRect/>
          </a:stretch>
        </p:blipFill>
        <p:spPr>
          <a:xfrm>
            <a:off x="2534960" y="-35663"/>
            <a:ext cx="9657041" cy="6893663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2026/6/7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-1" y="3143551"/>
            <a:ext cx="7071360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6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0" y="1308825"/>
            <a:ext cx="7071360" cy="172007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200">
                <a:solidFill>
                  <a:srgbClr val="071F65"/>
                </a:solidFill>
                <a:effectLst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26955" y="205441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rgbClr val="071F65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</p:nvPr>
        </p:nvSpPr>
        <p:spPr>
          <a:xfrm>
            <a:off x="3827342" y="3346701"/>
            <a:ext cx="4643665" cy="450746"/>
          </a:xfrm>
          <a:custGeom>
            <a:avLst/>
            <a:gdLst>
              <a:gd name="connsiteX0" fmla="*/ 0 w 3482749"/>
              <a:gd name="connsiteY0" fmla="*/ 0 h 450746"/>
              <a:gd name="connsiteX1" fmla="*/ 3095474 w 3482749"/>
              <a:gd name="connsiteY1" fmla="*/ 10691 h 450746"/>
              <a:gd name="connsiteX2" fmla="*/ 3482749 w 3482749"/>
              <a:gd name="connsiteY2" fmla="*/ 450746 h 450746"/>
              <a:gd name="connsiteX3" fmla="*/ 402616 w 3482749"/>
              <a:gd name="connsiteY3" fmla="*/ 440057 h 450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2749" h="450746">
                <a:moveTo>
                  <a:pt x="0" y="0"/>
                </a:moveTo>
                <a:lnTo>
                  <a:pt x="3095474" y="10691"/>
                </a:lnTo>
                <a:lnTo>
                  <a:pt x="3482749" y="450746"/>
                </a:lnTo>
                <a:lnTo>
                  <a:pt x="402616" y="44005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71" y="142875"/>
            <a:ext cx="705529" cy="70552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3" y="1244601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 dirty="0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6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6" y="2200274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 dirty="0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 dirty="0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5"/>
            <a:ext cx="118251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STATE COLLEGE UNIVERSITY</a:t>
            </a:r>
            <a:endParaRPr kumimoji="1" lang="zh-CN" altLang="en-US" dirty="0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866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梯形 1"/>
          <p:cNvSpPr/>
          <p:nvPr userDrawn="1"/>
        </p:nvSpPr>
        <p:spPr>
          <a:xfrm rot="16200000">
            <a:off x="7443541" y="-448660"/>
            <a:ext cx="2291737" cy="7194558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  <p:sp>
        <p:nvSpPr>
          <p:cNvPr id="3" name="梯形 2"/>
          <p:cNvSpPr/>
          <p:nvPr userDrawn="1"/>
        </p:nvSpPr>
        <p:spPr>
          <a:xfrm rot="5400000">
            <a:off x="1336590" y="641754"/>
            <a:ext cx="2344067" cy="4997443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049354" y="83558"/>
            <a:ext cx="11056060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/>
              <a:t>STATE COLLEGE UNIVERSITY</a:t>
            </a:r>
            <a:endParaRPr kumimoji="1" lang="zh-CN" altLang="en-US" dirty="0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A680B-B80A-2545-AB30-B9870FE9052E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799" y="1155708"/>
            <a:ext cx="11056060" cy="5329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71" y="142875"/>
            <a:ext cx="705529" cy="7055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1_图片_9_b589cbf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09728"/>
            <a:ext cx="3291840" cy="13990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874519"/>
            <a:ext cx="112471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11247120" cy="1353312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</a:rPr>
              <a:t>面向垂直场景的智能体RAG知识服务系统
研究与实现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85032"/>
            <a:ext cx="1124712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22191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1F65"/>
                </a:solidFill>
                <a:latin typeface="微软雅黑"/>
              </a:rPr>
              <a:t>���学生创新创业训练计划立项汇报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507992"/>
            <a:ext cx="7315200" cy="2743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微软雅黑"/>
              </a:rPr>
              <a:t>���责人：胡景熙   |   成员：孙泽恺、冷诗雨   |   指导教师：周航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937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微软雅黑"/>
              </a:rPr>
              <a:t>北京交通大学威海国际学院   |   信息管理与信息系统   |   2026年6月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080760"/>
            <a:ext cx="11247120" cy="27432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10819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创新训练项目  ·  成果形式：学术论文 + 软件程序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09728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82880"/>
            <a:ext cx="4114800" cy="77724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774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目录 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182880"/>
            <a:ext cx="914400" cy="649224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38560" y="182880"/>
            <a:ext cx="548640" cy="649224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61872"/>
            <a:ext cx="10241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261872"/>
            <a:ext cx="73152" cy="86868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426464"/>
            <a:ext cx="548640" cy="548640"/>
          </a:xfrm>
          <a:prstGeom prst="ellipse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389888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3350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71F65"/>
                </a:solidFill>
                <a:latin typeface="微软雅黑"/>
              </a:rPr>
              <a:t>选题背景与意义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75564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</a:rPr>
              <a:t>研究背景、选题意义与延续性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67712"/>
            <a:ext cx="10241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267712"/>
            <a:ext cx="73152" cy="86868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2432304"/>
            <a:ext cx="548640" cy="548640"/>
          </a:xfrm>
          <a:prstGeom prst="ellipse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395728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34086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48B9F"/>
                </a:solidFill>
                <a:latin typeface="微软雅黑"/>
              </a:rPr>
              <a:t>研究现状分析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76148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</a:rPr>
              <a:t>国内外进展与现有方法局限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273552"/>
            <a:ext cx="10241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273552"/>
            <a:ext cx="73152" cy="868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438144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401568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3467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00000"/>
                </a:solidFill>
                <a:latin typeface="微软雅黑"/>
              </a:rPr>
              <a:t>主要研究内容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76732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</a:rPr>
              <a:t>系统架构、路由层、多策略检索与验证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279392"/>
            <a:ext cx="10241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279392"/>
            <a:ext cx="73152" cy="86868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4443984"/>
            <a:ext cx="548640" cy="548640"/>
          </a:xfrm>
          <a:prstGeom prst="ellipse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407408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35254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71F65"/>
                </a:solidFill>
                <a:latin typeface="微软雅黑"/>
              </a:rPr>
              <a:t>工作计划与预期成果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4773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</a:rPr>
              <a:t>项目进度安排、预期论文与软件成果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285232"/>
            <a:ext cx="10241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5285232"/>
            <a:ext cx="73152" cy="86868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240" y="5449824"/>
            <a:ext cx="548640" cy="548640"/>
          </a:xfrm>
          <a:prstGeom prst="ellipse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413248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53583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348B9F"/>
                </a:solidFill>
                <a:latin typeface="微软雅黑"/>
              </a:rPr>
              <a:t>参考文献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81328" y="577900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微软雅黑"/>
              </a:rPr>
              <a:t>12篇核心文献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1F65"/>
                </a:solidFill>
                <a:latin typeface="微软雅黑"/>
              </a:rPr>
              <a:t>PART 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834640"/>
            <a:ext cx="3474720" cy="640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3317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选题背景与意义</a:t>
            </a:r>
          </a:p>
        </p:txBody>
      </p:sp>
      <p:pic>
        <p:nvPicPr>
          <p:cNvPr id="7" name="Picture 6" descr="slide7_图片_12_48f585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746504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1-1  选题背景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4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pic>
        <p:nvPicPr>
          <p:cNvPr id="8" name="Picture 7" descr="d1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87552"/>
            <a:ext cx="1143000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069080"/>
            <a:ext cx="557784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069080"/>
            <a:ext cx="91440" cy="251460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187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71F65"/>
                </a:solidFill>
                <a:latin typeface="微软雅黑"/>
              </a:rPr>
              <a:t>LLM 快速发展，RAG 成为主流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70916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/>
              </a:rPr>
              <a:t>大语言模型能力迅速提升，检索增强生成（RAG）已成为知识密集型问答主流技术路线 [1][10]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069080"/>
            <a:ext cx="557784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4069080"/>
            <a:ext cx="91440" cy="251460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187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8B9F"/>
                </a:solidFill>
                <a:latin typeface="微软雅黑"/>
              </a:rPr>
              <a:t>垂直场景面临异质性挑战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70916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/>
              </a:rPr>
              <a:t>景区/校园等场景同时存在事实查询、空间推理、路线规划三类任务，单一RAG路径无法应对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</a:rPr>
              <a:t>引用：[1] Lewis et al. NeurIPS 2020  [6] Dong et al. ACL 2025  [10] Gao et al.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1-2  选题意义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5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24128"/>
            <a:ext cx="3657600" cy="5559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24128"/>
            <a:ext cx="3657600" cy="73152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1261872"/>
            <a:ext cx="914400" cy="914400"/>
          </a:xfrm>
          <a:prstGeom prst="ellipse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280160"/>
            <a:ext cx="914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13432"/>
            <a:ext cx="2926080" cy="4572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39572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71F65"/>
                </a:solidFill>
                <a:latin typeface="微软雅黑"/>
              </a:rPr>
              <a:t>理论意义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35808"/>
            <a:ext cx="33832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软雅黑"/>
              </a:rPr>
              <a:t>首次针对景区服务场景中用户请求异质性进行系统建模，将请求划分为三类并设计对应检索路径，填补多策略RAG研究空白。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024128"/>
            <a:ext cx="3657600" cy="5559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024128"/>
            <a:ext cx="3657600" cy="73152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41848" y="1261872"/>
            <a:ext cx="914400" cy="914400"/>
          </a:xfrm>
          <a:prstGeom prst="ellipse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1280160"/>
            <a:ext cx="914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8" y="2313432"/>
            <a:ext cx="2926080" cy="4572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39572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348B9F"/>
                </a:solidFill>
                <a:latin typeface="微软雅黑"/>
              </a:rPr>
              <a:t>应用价值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035808"/>
            <a:ext cx="33832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软雅黑"/>
              </a:rPr>
              <a:t>为洱海生态廊道等景区提供可复用的智能知识服务框架，支持事实问答与空间关系推理，具有直接落地意义。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024128"/>
            <a:ext cx="3657600" cy="55595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024128"/>
            <a:ext cx="365760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92056" y="1261872"/>
            <a:ext cx="914400" cy="914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1280160"/>
            <a:ext cx="9144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86216" y="2313432"/>
            <a:ext cx="292608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239572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C00000"/>
                </a:solidFill>
                <a:latin typeface="微软雅黑"/>
              </a:rPr>
              <a:t>研究延续性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035808"/>
            <a:ext cx="33832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软雅黑"/>
              </a:rPr>
              <a:t>在团队去年大创事实问答模块基础上系统扩展：引入图谱检索、多策略路由与验证层，研究脉络完整。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1F65"/>
                </a:solidFill>
                <a:latin typeface="微软雅黑"/>
              </a:rPr>
              <a:t>PART 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834640"/>
            <a:ext cx="3474720" cy="640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3317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研究现状分析</a:t>
            </a:r>
          </a:p>
        </p:txBody>
      </p:sp>
      <p:pic>
        <p:nvPicPr>
          <p:cNvPr id="7" name="Picture 6" descr="slide7_图片_12_48f585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746504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2-1  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7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pic>
        <p:nvPicPr>
          <p:cNvPr id="8" name="Picture 7" descr="d2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11430000" cy="5394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</a:rPr>
              <a:t>引用：[1][8][9][10][11]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2-2  现有方法的三大不足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8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143000"/>
            <a:ext cx="1143000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109728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0000"/>
                </a:solidFill>
                <a:latin typeface="微软雅黑"/>
              </a:rPr>
              <a:t>❶  任务类型无法区分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099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软雅黑"/>
              </a:rPr>
              <a:t>现有RAG对事实查询、空间推理、路线规划采用统一策略，导致非事实类任务准确率大幅下降。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1143000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109728" cy="132588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1F65"/>
                </a:solidFill>
                <a:latin typeface="微软雅黑"/>
              </a:rPr>
              <a:t>❷  检索策略缺乏差异化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1729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软雅黑"/>
              </a:rPr>
              <a:t>单一向量检索对图结构关系问题效果有限；纯关键词检索对语义相似查询召回率低，两端均不适用。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1143000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109728" cy="132588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8B9F"/>
                </a:solidFill>
                <a:latin typeface="微软雅黑"/>
              </a:rPr>
              <a:t>❸  生成结果缺乏可靠验证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360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软雅黑"/>
              </a:rPr>
              <a:t>大多数RAG缺少事后验证，面对时效冲突或约束违反时无法主动纠错，幻觉风险高 [3][4][11]。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60720"/>
            <a:ext cx="114300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3387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→  本项目提出「多策略 Agentic RAG 框架」，针对性解决以上三大问题，填补��直场景研究空白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</a:rPr>
              <a:t>引用：[2][3][5][6][7][9]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1F65"/>
                </a:solidFill>
                <a:latin typeface="微软雅黑"/>
              </a:rPr>
              <a:t>PART 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834640"/>
            <a:ext cx="3474720" cy="640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3317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主要研究内容</a:t>
            </a:r>
          </a:p>
        </p:txBody>
      </p:sp>
      <p:pic>
        <p:nvPicPr>
          <p:cNvPr id="7" name="Picture 6" descr="slide7_图片_12_48f585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746504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3-0  系统架构总览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10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pic>
        <p:nvPicPr>
          <p:cNvPr id="8" name="Picture 7" descr="d3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11430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3-1  场景化知识底座构建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11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005840"/>
            <a:ext cx="41148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针对问题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4114800" cy="4617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/>
              </a:rPr>
              <a:t>景区数据散乱异构，缺乏统一知识表示：
• 文本资料（非结构化）
  介绍手册、规则公告文本
• 空间数据（半结构化）
  节点坐标、设施属性信息
• 关系数据（结构化）
  景点关联、路径约束条件
→ 三类格式差异导致统一检索困难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48B9F"/>
                </a:solidFill>
                <a:latin typeface="微软雅黑"/>
              </a:rPr>
              <a:t>→</a:t>
            </a:r>
          </a:p>
        </p:txBody>
      </p:sp>
      <p:pic>
        <p:nvPicPr>
          <p:cNvPr id="13" name="Picture 12" descr="d6_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05840"/>
            <a:ext cx="6400800" cy="5074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</a:rPr>
              <a:t>引用：[9] Self-RAG  [10] RAG Survey — 知识图谱与RAG融合研究基础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3-2  任务路由层��计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12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005840"/>
            <a:ext cx="4389120" cy="50292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设计思路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438912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91440" cy="132588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71F65"/>
                </a:solidFill>
                <a:latin typeface="微软雅黑"/>
              </a:rPr>
              <a:t>意图分类器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识别用户输入属于：事实规则查询 / 空间关系推理 / 约束路线规划 三类任务之一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44952"/>
            <a:ext cx="438912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44952"/>
            <a:ext cx="91440" cy="132588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363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8B9F"/>
                </a:solidFill>
                <a:latin typeface="微软雅黑"/>
              </a:rPr>
              <a:t>动态路由机制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75304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根据分类结果动态分配对应检索模块，避免一刀切的单一路径处理方式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9704"/>
            <a:ext cx="4389120" cy="1325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489704"/>
            <a:ext cx="914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811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微软雅黑"/>
              </a:rPr>
              <a:t>核心评估指标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0056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微软雅黑"/>
              </a:rPr>
              <a:t>路由准确率（Routing Accuracy）作为核心指标，以单一RAG路径为baseline进行对比实验</a:t>
            </a:r>
          </a:p>
        </p:txBody>
      </p:sp>
      <p:pic>
        <p:nvPicPr>
          <p:cNvPr id="22" name="Picture 21" descr="d4_ro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05840"/>
            <a:ext cx="6766560" cy="5074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</a:rPr>
              <a:t>引用：[8] ReAct  [9] Self-RAG  [6] RAG-Critic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3-3  多��略检索模块与验证层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13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pic>
        <p:nvPicPr>
          <p:cNvPr id="8" name="Picture 7" descr="d7_retri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11430000" cy="5394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微软雅黑"/>
              </a:rPr>
              <a:t>引用：[1][2][5][8][11]  — 验证层参考 CRAG [11] 与 Self-RAG [9] 反思机制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71F65"/>
                </a:solidFill>
                <a:latin typeface="微软雅黑"/>
              </a:rPr>
              <a:t>PART 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834640"/>
            <a:ext cx="3474720" cy="640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13258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33172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工作计划与预期成果</a:t>
            </a:r>
          </a:p>
        </p:txBody>
      </p:sp>
      <p:pic>
        <p:nvPicPr>
          <p:cNvPr id="7" name="Picture 6" descr="slide7_图片_12_48f585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746504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4  工作计划与预期成果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15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005840"/>
            <a:ext cx="6583680" cy="45720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24128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项目进度安排</a:t>
            </a:r>
          </a:p>
        </p:txBody>
      </p:sp>
      <p:pic>
        <p:nvPicPr>
          <p:cNvPr id="10" name="Picture 9" descr="d5_gan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6583680" cy="4114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223760" y="1005840"/>
            <a:ext cx="4572000" cy="45720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024128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预期成果与经费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600200"/>
            <a:ext cx="45720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600200"/>
            <a:ext cx="91440" cy="1371600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48B9F"/>
                </a:solidFill>
                <a:latin typeface="微软雅黑"/>
              </a:rPr>
              <a:t>发表论文 1 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48840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/>
              </a:rPr>
              <a:t>AI或自然语言处理领域
学术论文（会议/期刊）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108960"/>
            <a:ext cx="45720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3108960"/>
            <a:ext cx="91440" cy="1371600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32004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71F65"/>
                </a:solidFill>
                <a:latin typeface="微软雅黑"/>
              </a:rPr>
              <a:t>软件系统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57600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/>
              </a:rPr>
              <a:t>多策略Agentic RAG系统
含可视化交互界面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617720"/>
            <a:ext cx="457200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4617720"/>
            <a:ext cx="91440" cy="137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7091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微软雅黑"/>
              </a:rPr>
              <a:t>经费预算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166360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/>
              </a:rPr>
              <a:t>云计算¥3000 | 印刷¥1000
版面费¥2000  合计¥6000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"/>
            <a:ext cx="109728" cy="749808"/>
          </a:xfrm>
          <a:prstGeom prst="rect">
            <a:avLst/>
          </a:prstGeom>
          <a:solidFill>
            <a:srgbClr val="348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" y="91440"/>
            <a:ext cx="10972800" cy="749808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4630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AAAAAA"/>
                </a:solidFill>
                <a:latin typeface="微软雅黑"/>
              </a:rPr>
              <a:t>16</a:t>
            </a:r>
          </a:p>
        </p:txBody>
      </p:sp>
      <p:pic>
        <p:nvPicPr>
          <p:cNvPr id="7" name="Picture 6" descr="slide4_图片_18_94bc48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82296"/>
            <a:ext cx="768096" cy="768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1005840"/>
            <a:ext cx="11430000" cy="397764"/>
          </a:xfrm>
          <a:prstGeom prst="rect">
            <a:avLst/>
          </a:prstGeom>
          <a:solidFill>
            <a:srgbClr val="071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文献列表  （共12篇 · RAG及相关技术核心文献）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03604"/>
            <a:ext cx="11430000" cy="379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310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[1]   Lewis P, et al. Retrieval-Augmented Generation for Knowledge-Intensive NLP Tasks. NeurIPS, 2020.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3716805204"/>
            <a:ext cx="11430000" cy="37947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37168326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[2]   Gao L, Ma X, Lin J, Callan J. Precise Zero-Shot Dense Retrieval without Relevance Labels (HyDE). ACL, 2023.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727432206804"/>
            <a:ext cx="11430000" cy="379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7274322342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[3]   Es S, James J, Espinosa-Anke L, Schockaert S. RAGAS: Automated Evaluation of RAG. EACL, 2024.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091147608403"/>
            <a:ext cx="11430000" cy="37947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091147635835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[4]   Saad-Falcon J, et al. ARES: An Automated Evaluation Framework for RAG Systems. NAACL, 2024.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454863010004"/>
            <a:ext cx="11430000" cy="379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4548630374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[5]   Liu N F, et al. Lost in the Middle: How Language Models Use Long Contexts. TACL, 2024.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18578411604"/>
            <a:ext cx="11430000" cy="37947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8185784390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[6]   Dong G, et al. RAG-Critic: Critic-Guided Agentic Workflow for RAG. ACL, 2025.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82293813204"/>
            <a:ext cx="11430000" cy="379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822938406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[7]   Lee D, Jo Y, Park H, Lee M. Shifting from Ranking to Set Selection for RAG (SETR). ACL, 2025.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46009214804"/>
            <a:ext cx="11430000" cy="37947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460092422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[8]   Yao S, Zhao J, Yu D, et al. ReAct: Synergizing Reasoning and Acting in Language Models. ICLR, 2023.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09724616404"/>
            <a:ext cx="11430000" cy="379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097246438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[9]   Asai A, Wu Z, Wang Y, Sil A, Hajishirzi H. Self-RAG: Learning to Retrieve, Generate and Critique. ICLR, 2024.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73440018004"/>
            <a:ext cx="11430000" cy="37947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734400454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[10]  Gao Y, Xiong Y, Gao X, et al. Retrieval-Augmented Generation for LLMs: A Survey. arXiv, 2024.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37155419604"/>
            <a:ext cx="11430000" cy="3794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371554470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[11]  Yan S-Q, Gu J-C, Zhu Y, Ling Z-H. Corrective Retrieval Augmented Generation (CRAG). arXiv, 2024.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000870821204"/>
            <a:ext cx="11430000" cy="37947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00870848636"/>
            <a:ext cx="11247120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微软雅黑"/>
              </a:rPr>
              <a:t>[12]  Friel R, Belyi M, Sanyal A. RAGBench: Explainable Benchmark for RAG Systems. arXiv, 2024.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YzNjM2MDEwZGFkYWYwYWI3MmZlNzM3YjFmYmZhZTIifQ=="/>
</p:tagLst>
</file>

<file path=ppt/theme/theme1.xml><?xml version="1.0" encoding="utf-8"?>
<a:theme xmlns:a="http://schemas.openxmlformats.org/drawingml/2006/main" name="A000120140530A99PPBG">
  <a:themeElements>
    <a:clrScheme name="自定义 1">
      <a:dk1>
        <a:srgbClr val="3D3F41"/>
      </a:dk1>
      <a:lt1>
        <a:srgbClr val="FFFFFF"/>
      </a:lt1>
      <a:dk2>
        <a:srgbClr val="454749"/>
      </a:dk2>
      <a:lt2>
        <a:srgbClr val="FFFFFF"/>
      </a:lt2>
      <a:accent1>
        <a:srgbClr val="A3005B"/>
      </a:accent1>
      <a:accent2>
        <a:srgbClr val="A57DA5"/>
      </a:accent2>
      <a:accent3>
        <a:srgbClr val="706A80"/>
      </a:accent3>
      <a:accent4>
        <a:srgbClr val="C09468"/>
      </a:accent4>
      <a:accent5>
        <a:srgbClr val="98C7DC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2194</Words>
  <Application>Microsoft Office PowerPoint</Application>
  <PresentationFormat>宽屏</PresentationFormat>
  <Paragraphs>187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等线</vt:lpstr>
      <vt:lpstr>楷体</vt:lpstr>
      <vt:lpstr>宋体</vt:lpstr>
      <vt:lpstr>微软雅黑</vt:lpstr>
      <vt:lpstr>幼圆</vt:lpstr>
      <vt:lpstr>Arial</vt:lpstr>
      <vt:lpstr>Arial Black</vt:lpstr>
      <vt:lpstr>Calibri</vt:lpstr>
      <vt:lpstr>Impact</vt:lpstr>
      <vt:lpstr>Times New Roman</vt:lpstr>
      <vt:lpstr>Wingdings</vt:lpstr>
      <vt:lpstr>Wingdings 2</vt:lpstr>
      <vt:lpstr>A000120140530A99PPBG</vt:lpstr>
      <vt:lpstr>Visio.Drawing.15</vt:lpstr>
      <vt:lpstr>PowerPoint 演示文稿</vt:lpstr>
      <vt:lpstr>PowerPoint 演示文稿</vt:lpstr>
      <vt:lpstr>PowerPoint 演示文稿</vt:lpstr>
      <vt:lpstr>1-1 选题背景</vt:lpstr>
      <vt:lpstr>1-1 选题背景</vt:lpstr>
      <vt:lpstr>1-2 选题意义</vt:lpstr>
      <vt:lpstr>PowerPoint 演示文稿</vt:lpstr>
      <vt:lpstr>2-1 当前网络安全知识图谱存在的问题</vt:lpstr>
      <vt:lpstr>2-2 当前攻击策略的生成存在的问题</vt:lpstr>
      <vt:lpstr>PowerPoint 演示文稿</vt:lpstr>
      <vt:lpstr>PowerPoint 演示文稿</vt:lpstr>
      <vt:lpstr>3-1 基于本体的网络安全知识图谱的构建</vt:lpstr>
      <vt:lpstr>3-1 基于本体的网络安全知识图谱的构建</vt:lpstr>
      <vt:lpstr>3-1 基于本体的网络安全知识图谱的构建</vt:lpstr>
      <vt:lpstr>3-2 基于网络安全知识图谱的攻击策略的自动生成</vt:lpstr>
      <vt:lpstr>PowerPoint 演示文稿</vt:lpstr>
      <vt:lpstr>PowerPoint 演示文稿</vt:lpstr>
      <vt:lpstr>PowerPoint 演示文稿</vt:lpstr>
      <vt:lpstr>6 参考文献</vt:lpstr>
      <vt:lpstr>6 参考文献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锐旗设计; https:/9ppt.taobao.com</cp:keywords>
  <cp:lastModifiedBy>景熙 胡</cp:lastModifiedBy>
  <cp:revision>3103</cp:revision>
  <dcterms:created xsi:type="dcterms:W3CDTF">2016-07-01T07:39:00Z</dcterms:created>
  <dcterms:modified xsi:type="dcterms:W3CDTF">2026-06-07T05:34:45Z</dcterms:modified>
  <cp:category>锐旗设计;https://9ppt.taobao.com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38E1BB519FCC47C79E07D5B5843E9109_12</vt:lpwstr>
  </property>
  <property fmtid="{D5CDD505-2E9C-101B-9397-08002B2CF9AE}" pid="3" name="KSOProductBuildVer">
    <vt:lpwstr>2052-12.1.0.15712</vt:lpwstr>
  </property>
</Properties>
</file>