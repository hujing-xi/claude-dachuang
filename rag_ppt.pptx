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 cy="685800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2011680"/>
            <a:ext cx="10058400" cy="128016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084831"/>
            <a:ext cx="9784080" cy="1097280"/>
          </a:xfrm>
          <a:prstGeom prst="rect">
            <a:avLst/>
          </a:prstGeom>
          <a:noFill/>
        </p:spPr>
        <p:txBody>
          <a:bodyPr wrap="square">
            <a:spAutoFit/>
          </a:bodyPr>
          <a:lstStyle/>
          <a:p>
            <a:pPr algn="ctr"/>
            <a:r>
              <a:rPr sz="3000" b="1">
                <a:solidFill>
                  <a:srgbClr val="FFFFFF"/>
                </a:solidFill>
                <a:latin typeface="微软雅黑"/>
              </a:rPr>
              <a:t>面向垂直场景的智能体RAG知识服务系统研究与实现</a:t>
            </a:r>
          </a:p>
        </p:txBody>
      </p:sp>
      <p:sp>
        <p:nvSpPr>
          <p:cNvPr id="6" name="Rectangle 5"/>
          <p:cNvSpPr/>
          <p:nvPr/>
        </p:nvSpPr>
        <p:spPr>
          <a:xfrm>
            <a:off x="1097280" y="3310128"/>
            <a:ext cx="10058400" cy="7315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74720"/>
            <a:ext cx="10058400" cy="548640"/>
          </a:xfrm>
          <a:prstGeom prst="rect">
            <a:avLst/>
          </a:prstGeom>
          <a:noFill/>
        </p:spPr>
        <p:txBody>
          <a:bodyPr wrap="square">
            <a:spAutoFit/>
          </a:bodyPr>
          <a:lstStyle/>
          <a:p>
            <a:pPr algn="ctr"/>
            <a:r>
              <a:rPr sz="2200" b="0">
                <a:solidFill>
                  <a:srgbClr val="071F65"/>
                </a:solidFill>
                <a:latin typeface="微软雅黑"/>
              </a:rPr>
              <a:t>大学生创新创业训练计划立项汇报</a:t>
            </a:r>
          </a:p>
        </p:txBody>
      </p:sp>
      <p:sp>
        <p:nvSpPr>
          <p:cNvPr id="8" name="TextBox 7"/>
          <p:cNvSpPr txBox="1"/>
          <p:nvPr/>
        </p:nvSpPr>
        <p:spPr>
          <a:xfrm>
            <a:off x="1097280" y="4297680"/>
            <a:ext cx="10058400" cy="457200"/>
          </a:xfrm>
          <a:prstGeom prst="rect">
            <a:avLst/>
          </a:prstGeom>
          <a:noFill/>
        </p:spPr>
        <p:txBody>
          <a:bodyPr wrap="square">
            <a:spAutoFit/>
          </a:bodyPr>
          <a:lstStyle/>
          <a:p>
            <a:pPr algn="ctr"/>
            <a:r>
              <a:rPr sz="1800" b="0">
                <a:solidFill>
                  <a:srgbClr val="202020"/>
                </a:solidFill>
                <a:latin typeface="微软雅黑"/>
              </a:rPr>
              <a:t>负责人：胡景熙   |   成员：孙泽恺、冷诗雨   |   指导教师：周航</a:t>
            </a:r>
          </a:p>
        </p:txBody>
      </p:sp>
      <p:sp>
        <p:nvSpPr>
          <p:cNvPr id="9" name="TextBox 8"/>
          <p:cNvSpPr txBox="1"/>
          <p:nvPr/>
        </p:nvSpPr>
        <p:spPr>
          <a:xfrm>
            <a:off x="1097280" y="4754880"/>
            <a:ext cx="10058400" cy="457200"/>
          </a:xfrm>
          <a:prstGeom prst="rect">
            <a:avLst/>
          </a:prstGeom>
          <a:noFill/>
        </p:spPr>
        <p:txBody>
          <a:bodyPr wrap="square">
            <a:spAutoFit/>
          </a:bodyPr>
          <a:lstStyle/>
          <a:p>
            <a:pPr algn="ctr"/>
            <a:r>
              <a:rPr sz="1800" b="0">
                <a:solidFill>
                  <a:srgbClr val="202020"/>
                </a:solidFill>
                <a:latin typeface="微软雅黑"/>
              </a:rPr>
              <a:t>北京交通大学威海国际学院   |   2026年6月</a:t>
            </a:r>
          </a:p>
        </p:txBody>
      </p:sp>
      <p:sp>
        <p:nvSpPr>
          <p:cNvPr id="10" name="Oval 9"/>
          <p:cNvSpPr/>
          <p:nvPr/>
        </p:nvSpPr>
        <p:spPr>
          <a:xfrm>
            <a:off x="1371600" y="4069080"/>
            <a:ext cx="502920" cy="50292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3657600" cy="6858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3474720" cy="640080"/>
          </a:xfrm>
          <a:prstGeom prst="rect">
            <a:avLst/>
          </a:prstGeom>
          <a:noFill/>
        </p:spPr>
        <p:txBody>
          <a:bodyPr wrap="square">
            <a:spAutoFit/>
          </a:bodyPr>
          <a:lstStyle/>
          <a:p>
            <a:pPr algn="l"/>
            <a:r>
              <a:rPr sz="2400" b="1">
                <a:solidFill>
                  <a:srgbClr val="FFFFFF"/>
                </a:solidFill>
                <a:latin typeface="微软雅黑"/>
              </a:rPr>
              <a:t>目  录  CONTENTS</a:t>
            </a:r>
          </a:p>
        </p:txBody>
      </p:sp>
      <p:sp>
        <p:nvSpPr>
          <p:cNvPr id="5" name="Rectangle 4"/>
          <p:cNvSpPr/>
          <p:nvPr/>
        </p:nvSpPr>
        <p:spPr>
          <a:xfrm>
            <a:off x="4572000" y="1280160"/>
            <a:ext cx="36576" cy="5029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926080" y="1444752"/>
            <a:ext cx="502920" cy="50292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07792" y="1408176"/>
            <a:ext cx="548640" cy="502920"/>
          </a:xfrm>
          <a:prstGeom prst="rect">
            <a:avLst/>
          </a:prstGeom>
          <a:noFill/>
        </p:spPr>
        <p:txBody>
          <a:bodyPr wrap="square">
            <a:spAutoFit/>
          </a:bodyPr>
          <a:lstStyle/>
          <a:p>
            <a:pPr algn="ctr"/>
            <a:r>
              <a:rPr sz="1800" b="1">
                <a:solidFill>
                  <a:srgbClr val="FFFFFF"/>
                </a:solidFill>
                <a:latin typeface="微软雅黑"/>
              </a:rPr>
              <a:t>01</a:t>
            </a:r>
          </a:p>
        </p:txBody>
      </p:sp>
      <p:sp>
        <p:nvSpPr>
          <p:cNvPr id="8" name="TextBox 7"/>
          <p:cNvSpPr txBox="1"/>
          <p:nvPr/>
        </p:nvSpPr>
        <p:spPr>
          <a:xfrm>
            <a:off x="3657600" y="1371600"/>
            <a:ext cx="7772400" cy="594360"/>
          </a:xfrm>
          <a:prstGeom prst="rect">
            <a:avLst/>
          </a:prstGeom>
          <a:noFill/>
        </p:spPr>
        <p:txBody>
          <a:bodyPr wrap="square">
            <a:spAutoFit/>
          </a:bodyPr>
          <a:lstStyle/>
          <a:p>
            <a:pPr algn="l"/>
            <a:r>
              <a:rPr sz="2600" b="0">
                <a:solidFill>
                  <a:srgbClr val="202020"/>
                </a:solidFill>
                <a:latin typeface="微软雅黑"/>
              </a:rPr>
              <a:t>选题背景与意义</a:t>
            </a:r>
          </a:p>
        </p:txBody>
      </p:sp>
      <p:sp>
        <p:nvSpPr>
          <p:cNvPr id="9" name="Rectangle 8"/>
          <p:cNvSpPr/>
          <p:nvPr/>
        </p:nvSpPr>
        <p:spPr>
          <a:xfrm>
            <a:off x="2743200" y="2029968"/>
            <a:ext cx="896112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26080" y="2359152"/>
            <a:ext cx="502920" cy="50292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7792" y="2322576"/>
            <a:ext cx="548640" cy="502920"/>
          </a:xfrm>
          <a:prstGeom prst="rect">
            <a:avLst/>
          </a:prstGeom>
          <a:noFill/>
        </p:spPr>
        <p:txBody>
          <a:bodyPr wrap="square">
            <a:spAutoFit/>
          </a:bodyPr>
          <a:lstStyle/>
          <a:p>
            <a:pPr algn="ctr"/>
            <a:r>
              <a:rPr sz="1800" b="1">
                <a:solidFill>
                  <a:srgbClr val="FFFFFF"/>
                </a:solidFill>
                <a:latin typeface="微软雅黑"/>
              </a:rPr>
              <a:t>02</a:t>
            </a:r>
          </a:p>
        </p:txBody>
      </p:sp>
      <p:sp>
        <p:nvSpPr>
          <p:cNvPr id="12" name="TextBox 11"/>
          <p:cNvSpPr txBox="1"/>
          <p:nvPr/>
        </p:nvSpPr>
        <p:spPr>
          <a:xfrm>
            <a:off x="3657600" y="2286000"/>
            <a:ext cx="7772400" cy="594360"/>
          </a:xfrm>
          <a:prstGeom prst="rect">
            <a:avLst/>
          </a:prstGeom>
          <a:noFill/>
        </p:spPr>
        <p:txBody>
          <a:bodyPr wrap="square">
            <a:spAutoFit/>
          </a:bodyPr>
          <a:lstStyle/>
          <a:p>
            <a:pPr algn="l"/>
            <a:r>
              <a:rPr sz="2600" b="0">
                <a:solidFill>
                  <a:srgbClr val="202020"/>
                </a:solidFill>
                <a:latin typeface="微软雅黑"/>
              </a:rPr>
              <a:t>研究现状分析</a:t>
            </a:r>
          </a:p>
        </p:txBody>
      </p:sp>
      <p:sp>
        <p:nvSpPr>
          <p:cNvPr id="13" name="Rectangle 12"/>
          <p:cNvSpPr/>
          <p:nvPr/>
        </p:nvSpPr>
        <p:spPr>
          <a:xfrm>
            <a:off x="2743200" y="2944368"/>
            <a:ext cx="896112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26080" y="3273552"/>
            <a:ext cx="502920" cy="5029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7792" y="3236976"/>
            <a:ext cx="548640" cy="502920"/>
          </a:xfrm>
          <a:prstGeom prst="rect">
            <a:avLst/>
          </a:prstGeom>
          <a:noFill/>
        </p:spPr>
        <p:txBody>
          <a:bodyPr wrap="square">
            <a:spAutoFit/>
          </a:bodyPr>
          <a:lstStyle/>
          <a:p>
            <a:pPr algn="ctr"/>
            <a:r>
              <a:rPr sz="1800" b="1">
                <a:solidFill>
                  <a:srgbClr val="FFFFFF"/>
                </a:solidFill>
                <a:latin typeface="微软雅黑"/>
              </a:rPr>
              <a:t>03</a:t>
            </a:r>
          </a:p>
        </p:txBody>
      </p:sp>
      <p:sp>
        <p:nvSpPr>
          <p:cNvPr id="16" name="TextBox 15"/>
          <p:cNvSpPr txBox="1"/>
          <p:nvPr/>
        </p:nvSpPr>
        <p:spPr>
          <a:xfrm>
            <a:off x="3657600" y="3200400"/>
            <a:ext cx="7772400" cy="594360"/>
          </a:xfrm>
          <a:prstGeom prst="rect">
            <a:avLst/>
          </a:prstGeom>
          <a:noFill/>
        </p:spPr>
        <p:txBody>
          <a:bodyPr wrap="square">
            <a:spAutoFit/>
          </a:bodyPr>
          <a:lstStyle/>
          <a:p>
            <a:pPr algn="l"/>
            <a:r>
              <a:rPr sz="2600" b="0">
                <a:solidFill>
                  <a:srgbClr val="202020"/>
                </a:solidFill>
                <a:latin typeface="微软雅黑"/>
              </a:rPr>
              <a:t>主要研究内容</a:t>
            </a:r>
          </a:p>
        </p:txBody>
      </p:sp>
      <p:sp>
        <p:nvSpPr>
          <p:cNvPr id="17" name="Rectangle 16"/>
          <p:cNvSpPr/>
          <p:nvPr/>
        </p:nvSpPr>
        <p:spPr>
          <a:xfrm>
            <a:off x="2743200" y="3858768"/>
            <a:ext cx="896112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26080" y="4187952"/>
            <a:ext cx="502920" cy="50292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4151376"/>
            <a:ext cx="548640" cy="502920"/>
          </a:xfrm>
          <a:prstGeom prst="rect">
            <a:avLst/>
          </a:prstGeom>
          <a:noFill/>
        </p:spPr>
        <p:txBody>
          <a:bodyPr wrap="square">
            <a:spAutoFit/>
          </a:bodyPr>
          <a:lstStyle/>
          <a:p>
            <a:pPr algn="ctr"/>
            <a:r>
              <a:rPr sz="1800" b="1">
                <a:solidFill>
                  <a:srgbClr val="FFFFFF"/>
                </a:solidFill>
                <a:latin typeface="微软雅黑"/>
              </a:rPr>
              <a:t>04</a:t>
            </a:r>
          </a:p>
        </p:txBody>
      </p:sp>
      <p:sp>
        <p:nvSpPr>
          <p:cNvPr id="20" name="TextBox 19"/>
          <p:cNvSpPr txBox="1"/>
          <p:nvPr/>
        </p:nvSpPr>
        <p:spPr>
          <a:xfrm>
            <a:off x="3657600" y="4114800"/>
            <a:ext cx="7772400" cy="594360"/>
          </a:xfrm>
          <a:prstGeom prst="rect">
            <a:avLst/>
          </a:prstGeom>
          <a:noFill/>
        </p:spPr>
        <p:txBody>
          <a:bodyPr wrap="square">
            <a:spAutoFit/>
          </a:bodyPr>
          <a:lstStyle/>
          <a:p>
            <a:pPr algn="l"/>
            <a:r>
              <a:rPr sz="2600" b="0">
                <a:solidFill>
                  <a:srgbClr val="202020"/>
                </a:solidFill>
                <a:latin typeface="微软雅黑"/>
              </a:rPr>
              <a:t>工作计划与预期成果</a:t>
            </a:r>
          </a:p>
        </p:txBody>
      </p:sp>
      <p:sp>
        <p:nvSpPr>
          <p:cNvPr id="21" name="Rectangle 20"/>
          <p:cNvSpPr/>
          <p:nvPr/>
        </p:nvSpPr>
        <p:spPr>
          <a:xfrm>
            <a:off x="2743200" y="4773168"/>
            <a:ext cx="896112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926080" y="5102352"/>
            <a:ext cx="502920" cy="50292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07792" y="5065776"/>
            <a:ext cx="548640" cy="502920"/>
          </a:xfrm>
          <a:prstGeom prst="rect">
            <a:avLst/>
          </a:prstGeom>
          <a:noFill/>
        </p:spPr>
        <p:txBody>
          <a:bodyPr wrap="square">
            <a:spAutoFit/>
          </a:bodyPr>
          <a:lstStyle/>
          <a:p>
            <a:pPr algn="ctr"/>
            <a:r>
              <a:rPr sz="1800" b="1">
                <a:solidFill>
                  <a:srgbClr val="FFFFFF"/>
                </a:solidFill>
                <a:latin typeface="微软雅黑"/>
              </a:rPr>
              <a:t>05</a:t>
            </a:r>
          </a:p>
        </p:txBody>
      </p:sp>
      <p:sp>
        <p:nvSpPr>
          <p:cNvPr id="24" name="TextBox 23"/>
          <p:cNvSpPr txBox="1"/>
          <p:nvPr/>
        </p:nvSpPr>
        <p:spPr>
          <a:xfrm>
            <a:off x="3657600" y="5029200"/>
            <a:ext cx="7772400" cy="594360"/>
          </a:xfrm>
          <a:prstGeom prst="rect">
            <a:avLst/>
          </a:prstGeom>
          <a:noFill/>
        </p:spPr>
        <p:txBody>
          <a:bodyPr wrap="square">
            <a:spAutoFit/>
          </a:bodyPr>
          <a:lstStyle/>
          <a:p>
            <a:pPr algn="l"/>
            <a:r>
              <a:rPr sz="2600" b="0">
                <a:solidFill>
                  <a:srgbClr val="202020"/>
                </a:solidFill>
                <a:latin typeface="微软雅黑"/>
              </a:rPr>
              <a:t>参考文献</a:t>
            </a:r>
          </a:p>
        </p:txBody>
      </p:sp>
      <p:sp>
        <p:nvSpPr>
          <p:cNvPr id="25" name="Rectangle 24"/>
          <p:cNvSpPr/>
          <p:nvPr/>
        </p:nvSpPr>
        <p:spPr>
          <a:xfrm>
            <a:off x="2743200" y="5687568"/>
            <a:ext cx="8961120" cy="2743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972800" y="457200"/>
            <a:ext cx="914400" cy="59436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38560" y="457200"/>
            <a:ext cx="548640" cy="59436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0" y="2194560"/>
            <a:ext cx="2286000" cy="914400"/>
          </a:xfrm>
          <a:prstGeom prst="rect">
            <a:avLst/>
          </a:prstGeom>
          <a:noFill/>
        </p:spPr>
        <p:txBody>
          <a:bodyPr wrap="square">
            <a:spAutoFit/>
          </a:bodyPr>
          <a:lstStyle/>
          <a:p>
            <a:pPr algn="l"/>
            <a:r>
              <a:rPr sz="2200" b="1">
                <a:solidFill>
                  <a:srgbClr val="FFFFFF"/>
                </a:solidFill>
                <a:latin typeface="微软雅黑"/>
              </a:rPr>
              <a:t>Part 1</a:t>
            </a:r>
          </a:p>
        </p:txBody>
      </p:sp>
      <p:sp>
        <p:nvSpPr>
          <p:cNvPr id="5" name="TextBox 4"/>
          <p:cNvSpPr txBox="1"/>
          <p:nvPr/>
        </p:nvSpPr>
        <p:spPr>
          <a:xfrm>
            <a:off x="5303520" y="1280160"/>
            <a:ext cx="2286000" cy="914400"/>
          </a:xfrm>
          <a:prstGeom prst="rect">
            <a:avLst/>
          </a:prstGeom>
          <a:noFill/>
        </p:spPr>
        <p:txBody>
          <a:bodyPr wrap="square">
            <a:spAutoFit/>
          </a:bodyPr>
          <a:lstStyle/>
          <a:p>
            <a:pPr algn="l"/>
            <a:r>
              <a:rPr sz="7200" b="1">
                <a:solidFill>
                  <a:srgbClr val="FFFFFF"/>
                </a:solidFill>
                <a:latin typeface="微软雅黑"/>
              </a:rPr>
              <a:t>01</a:t>
            </a:r>
          </a:p>
        </p:txBody>
      </p:sp>
      <p:sp>
        <p:nvSpPr>
          <p:cNvPr id="6" name="TextBox 5"/>
          <p:cNvSpPr txBox="1"/>
          <p:nvPr/>
        </p:nvSpPr>
        <p:spPr>
          <a:xfrm>
            <a:off x="7772400" y="2743200"/>
            <a:ext cx="4114800" cy="1097280"/>
          </a:xfrm>
          <a:prstGeom prst="rect">
            <a:avLst/>
          </a:prstGeom>
          <a:noFill/>
        </p:spPr>
        <p:txBody>
          <a:bodyPr wrap="square">
            <a:spAutoFit/>
          </a:bodyPr>
          <a:lstStyle/>
          <a:p>
            <a:pPr algn="l"/>
            <a:r>
              <a:rPr sz="4000" b="1">
                <a:solidFill>
                  <a:srgbClr val="FFFFFF"/>
                </a:solidFill>
                <a:latin typeface="微软雅黑"/>
              </a:rPr>
              <a:t>选题背景与意义</a:t>
            </a:r>
          </a:p>
        </p:txBody>
      </p:sp>
      <p:sp>
        <p:nvSpPr>
          <p:cNvPr id="7" name="Rectangle 6"/>
          <p:cNvSpPr/>
          <p:nvPr/>
        </p:nvSpPr>
        <p:spPr>
          <a:xfrm>
            <a:off x="914400" y="3200400"/>
            <a:ext cx="3474720" cy="54864"/>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657600" cy="731520"/>
          </a:xfrm>
          <a:prstGeom prst="rect">
            <a:avLst/>
          </a:prstGeom>
          <a:noFill/>
        </p:spPr>
        <p:txBody>
          <a:bodyPr wrap="square">
            <a:spAutoFit/>
          </a:bodyPr>
          <a:lstStyle/>
          <a:p>
            <a:pPr algn="l"/>
            <a:r>
              <a:rPr sz="2800" b="1">
                <a:solidFill>
                  <a:srgbClr val="071F65"/>
                </a:solidFill>
                <a:latin typeface="微软雅黑"/>
              </a:rPr>
              <a:t>PART  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1-1  选题背景</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4</a:t>
            </a:r>
          </a:p>
        </p:txBody>
      </p:sp>
      <p:sp>
        <p:nvSpPr>
          <p:cNvPr id="7" name="Rectangle 6"/>
          <p:cNvSpPr/>
          <p:nvPr/>
        </p:nvSpPr>
        <p:spPr>
          <a:xfrm>
            <a:off x="274320" y="1188720"/>
            <a:ext cx="274320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88720"/>
            <a:ext cx="2743200" cy="50292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25880" y="1783080"/>
            <a:ext cx="640080" cy="64008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764792"/>
            <a:ext cx="640080" cy="594360"/>
          </a:xfrm>
          <a:prstGeom prst="rect">
            <a:avLst/>
          </a:prstGeom>
          <a:noFill/>
        </p:spPr>
        <p:txBody>
          <a:bodyPr wrap="square">
            <a:spAutoFit/>
          </a:bodyPr>
          <a:lstStyle/>
          <a:p>
            <a:pPr algn="ctr"/>
            <a:r>
              <a:rPr sz="2200" b="1">
                <a:solidFill>
                  <a:srgbClr val="FFFFFF"/>
                </a:solidFill>
                <a:latin typeface="微软雅黑"/>
              </a:rPr>
              <a:t>1</a:t>
            </a:r>
          </a:p>
        </p:txBody>
      </p:sp>
      <p:sp>
        <p:nvSpPr>
          <p:cNvPr id="11" name="TextBox 10"/>
          <p:cNvSpPr txBox="1"/>
          <p:nvPr/>
        </p:nvSpPr>
        <p:spPr>
          <a:xfrm>
            <a:off x="365760" y="2560320"/>
            <a:ext cx="2560320" cy="640080"/>
          </a:xfrm>
          <a:prstGeom prst="rect">
            <a:avLst/>
          </a:prstGeom>
          <a:noFill/>
        </p:spPr>
        <p:txBody>
          <a:bodyPr wrap="square">
            <a:spAutoFit/>
          </a:bodyPr>
          <a:lstStyle/>
          <a:p>
            <a:pPr algn="ctr"/>
            <a:r>
              <a:rPr sz="1800" b="1">
                <a:solidFill>
                  <a:srgbClr val="071F65"/>
                </a:solidFill>
                <a:latin typeface="微软雅黑"/>
              </a:rPr>
              <a:t>LLM 快速发展</a:t>
            </a:r>
          </a:p>
        </p:txBody>
      </p:sp>
      <p:sp>
        <p:nvSpPr>
          <p:cNvPr id="12" name="TextBox 11"/>
          <p:cNvSpPr txBox="1"/>
          <p:nvPr/>
        </p:nvSpPr>
        <p:spPr>
          <a:xfrm>
            <a:off x="384048" y="3291840"/>
            <a:ext cx="2523744" cy="2743200"/>
          </a:xfrm>
          <a:prstGeom prst="rect">
            <a:avLst/>
          </a:prstGeom>
          <a:noFill/>
        </p:spPr>
        <p:txBody>
          <a:bodyPr wrap="square">
            <a:spAutoFit/>
          </a:bodyPr>
          <a:lstStyle/>
          <a:p>
            <a:pPr algn="l"/>
            <a:r>
              <a:rPr sz="1500" b="0">
                <a:solidFill>
                  <a:srgbClr val="202020"/>
                </a:solidFill>
                <a:latin typeface="微软雅黑"/>
              </a:rPr>
              <a:t>大语言模型能力迅速提升，成为
知识密集型应用的核心基础设施</a:t>
            </a:r>
          </a:p>
        </p:txBody>
      </p:sp>
      <p:sp>
        <p:nvSpPr>
          <p:cNvPr id="13" name="Rectangle 12"/>
          <p:cNvSpPr/>
          <p:nvPr/>
        </p:nvSpPr>
        <p:spPr>
          <a:xfrm>
            <a:off x="3291840" y="1188720"/>
            <a:ext cx="274320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188720"/>
            <a:ext cx="2743200" cy="50292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1783080"/>
            <a:ext cx="640080" cy="64008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1764792"/>
            <a:ext cx="640080" cy="594360"/>
          </a:xfrm>
          <a:prstGeom prst="rect">
            <a:avLst/>
          </a:prstGeom>
          <a:noFill/>
        </p:spPr>
        <p:txBody>
          <a:bodyPr wrap="square">
            <a:spAutoFit/>
          </a:bodyPr>
          <a:lstStyle/>
          <a:p>
            <a:pPr algn="ctr"/>
            <a:r>
              <a:rPr sz="2200" b="1">
                <a:solidFill>
                  <a:srgbClr val="FFFFFF"/>
                </a:solidFill>
                <a:latin typeface="微软雅黑"/>
              </a:rPr>
              <a:t>2</a:t>
            </a:r>
          </a:p>
        </p:txBody>
      </p:sp>
      <p:sp>
        <p:nvSpPr>
          <p:cNvPr id="17" name="TextBox 16"/>
          <p:cNvSpPr txBox="1"/>
          <p:nvPr/>
        </p:nvSpPr>
        <p:spPr>
          <a:xfrm>
            <a:off x="3383280" y="2560320"/>
            <a:ext cx="2560320" cy="640080"/>
          </a:xfrm>
          <a:prstGeom prst="rect">
            <a:avLst/>
          </a:prstGeom>
          <a:noFill/>
        </p:spPr>
        <p:txBody>
          <a:bodyPr wrap="square">
            <a:spAutoFit/>
          </a:bodyPr>
          <a:lstStyle/>
          <a:p>
            <a:pPr algn="ctr"/>
            <a:r>
              <a:rPr sz="1800" b="1">
                <a:solidFill>
                  <a:srgbClr val="348B9F"/>
                </a:solidFill>
                <a:latin typeface="微软雅黑"/>
              </a:rPr>
              <a:t>RAG 成为主流方案</a:t>
            </a:r>
          </a:p>
        </p:txBody>
      </p:sp>
      <p:sp>
        <p:nvSpPr>
          <p:cNvPr id="18" name="TextBox 17"/>
          <p:cNvSpPr txBox="1"/>
          <p:nvPr/>
        </p:nvSpPr>
        <p:spPr>
          <a:xfrm>
            <a:off x="3401568" y="3291840"/>
            <a:ext cx="2523744" cy="2743200"/>
          </a:xfrm>
          <a:prstGeom prst="rect">
            <a:avLst/>
          </a:prstGeom>
          <a:noFill/>
        </p:spPr>
        <p:txBody>
          <a:bodyPr wrap="square">
            <a:spAutoFit/>
          </a:bodyPr>
          <a:lstStyle/>
          <a:p>
            <a:pPr algn="l"/>
            <a:r>
              <a:rPr sz="1500" b="0">
                <a:solidFill>
                  <a:srgbClr val="202020"/>
                </a:solidFill>
                <a:latin typeface="微软雅黑"/>
              </a:rPr>
              <a:t>检索增强生成（RAG）已是知识问答
系统的主流技术路线 [1][10]</a:t>
            </a:r>
          </a:p>
        </p:txBody>
      </p:sp>
      <p:sp>
        <p:nvSpPr>
          <p:cNvPr id="19" name="Rectangle 18"/>
          <p:cNvSpPr/>
          <p:nvPr/>
        </p:nvSpPr>
        <p:spPr>
          <a:xfrm>
            <a:off x="6309360" y="1188720"/>
            <a:ext cx="274320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188720"/>
            <a:ext cx="2743200"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60920" y="1783080"/>
            <a:ext cx="640080" cy="6400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764792"/>
            <a:ext cx="640080" cy="594360"/>
          </a:xfrm>
          <a:prstGeom prst="rect">
            <a:avLst/>
          </a:prstGeom>
          <a:noFill/>
        </p:spPr>
        <p:txBody>
          <a:bodyPr wrap="square">
            <a:spAutoFit/>
          </a:bodyPr>
          <a:lstStyle/>
          <a:p>
            <a:pPr algn="ctr"/>
            <a:r>
              <a:rPr sz="2200" b="1">
                <a:solidFill>
                  <a:srgbClr val="FFFFFF"/>
                </a:solidFill>
                <a:latin typeface="微软雅黑"/>
              </a:rPr>
              <a:t>3</a:t>
            </a:r>
          </a:p>
        </p:txBody>
      </p:sp>
      <p:sp>
        <p:nvSpPr>
          <p:cNvPr id="23" name="TextBox 22"/>
          <p:cNvSpPr txBox="1"/>
          <p:nvPr/>
        </p:nvSpPr>
        <p:spPr>
          <a:xfrm>
            <a:off x="6400800" y="2560320"/>
            <a:ext cx="2560320" cy="640080"/>
          </a:xfrm>
          <a:prstGeom prst="rect">
            <a:avLst/>
          </a:prstGeom>
          <a:noFill/>
        </p:spPr>
        <p:txBody>
          <a:bodyPr wrap="square">
            <a:spAutoFit/>
          </a:bodyPr>
          <a:lstStyle/>
          <a:p>
            <a:pPr algn="ctr"/>
            <a:r>
              <a:rPr sz="1800" b="1">
                <a:solidFill>
                  <a:srgbClr val="C00000"/>
                </a:solidFill>
                <a:latin typeface="微软雅黑"/>
              </a:rPr>
              <a:t>用户请求具有异质性</a:t>
            </a:r>
          </a:p>
        </p:txBody>
      </p:sp>
      <p:sp>
        <p:nvSpPr>
          <p:cNvPr id="24" name="TextBox 23"/>
          <p:cNvSpPr txBox="1"/>
          <p:nvPr/>
        </p:nvSpPr>
        <p:spPr>
          <a:xfrm>
            <a:off x="6419088" y="3291840"/>
            <a:ext cx="2523744" cy="2743200"/>
          </a:xfrm>
          <a:prstGeom prst="rect">
            <a:avLst/>
          </a:prstGeom>
          <a:noFill/>
        </p:spPr>
        <p:txBody>
          <a:bodyPr wrap="square">
            <a:spAutoFit/>
          </a:bodyPr>
          <a:lstStyle/>
          <a:p>
            <a:pPr algn="l"/>
            <a:r>
              <a:rPr sz="1500" b="0">
                <a:solidFill>
                  <a:srgbClr val="202020"/>
                </a:solidFill>
                <a:latin typeface="微软雅黑"/>
              </a:rPr>
              <a:t>真实场景中同时存在事实查询、
空间推理、路线规划三类不同任务</a:t>
            </a:r>
          </a:p>
        </p:txBody>
      </p:sp>
      <p:sp>
        <p:nvSpPr>
          <p:cNvPr id="25" name="Rectangle 24"/>
          <p:cNvSpPr/>
          <p:nvPr/>
        </p:nvSpPr>
        <p:spPr>
          <a:xfrm>
            <a:off x="9326880" y="1188720"/>
            <a:ext cx="2743200" cy="53035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26880" y="1188720"/>
            <a:ext cx="2743200" cy="50292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78440" y="1783080"/>
            <a:ext cx="640080" cy="64008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0" y="1764792"/>
            <a:ext cx="640080" cy="594360"/>
          </a:xfrm>
          <a:prstGeom prst="rect">
            <a:avLst/>
          </a:prstGeom>
          <a:noFill/>
        </p:spPr>
        <p:txBody>
          <a:bodyPr wrap="square">
            <a:spAutoFit/>
          </a:bodyPr>
          <a:lstStyle/>
          <a:p>
            <a:pPr algn="ctr"/>
            <a:r>
              <a:rPr sz="2200" b="1">
                <a:solidFill>
                  <a:srgbClr val="FFFFFF"/>
                </a:solidFill>
                <a:latin typeface="微软雅黑"/>
              </a:rPr>
              <a:t>4</a:t>
            </a:r>
          </a:p>
        </p:txBody>
      </p:sp>
      <p:sp>
        <p:nvSpPr>
          <p:cNvPr id="29" name="TextBox 28"/>
          <p:cNvSpPr txBox="1"/>
          <p:nvPr/>
        </p:nvSpPr>
        <p:spPr>
          <a:xfrm>
            <a:off x="9418320" y="2560320"/>
            <a:ext cx="2560320" cy="640080"/>
          </a:xfrm>
          <a:prstGeom prst="rect">
            <a:avLst/>
          </a:prstGeom>
          <a:noFill/>
        </p:spPr>
        <p:txBody>
          <a:bodyPr wrap="square">
            <a:spAutoFit/>
          </a:bodyPr>
          <a:lstStyle/>
          <a:p>
            <a:pPr algn="ctr"/>
            <a:r>
              <a:rPr sz="1800" b="1">
                <a:solidFill>
                  <a:srgbClr val="071F65"/>
                </a:solidFill>
                <a:latin typeface="微软雅黑"/>
              </a:rPr>
              <a:t>垂直场景研究缺口</a:t>
            </a:r>
          </a:p>
        </p:txBody>
      </p:sp>
      <p:sp>
        <p:nvSpPr>
          <p:cNvPr id="30" name="TextBox 29"/>
          <p:cNvSpPr txBox="1"/>
          <p:nvPr/>
        </p:nvSpPr>
        <p:spPr>
          <a:xfrm>
            <a:off x="9436608" y="3291840"/>
            <a:ext cx="2523744" cy="2743200"/>
          </a:xfrm>
          <a:prstGeom prst="rect">
            <a:avLst/>
          </a:prstGeom>
          <a:noFill/>
        </p:spPr>
        <p:txBody>
          <a:bodyPr wrap="square">
            <a:spAutoFit/>
          </a:bodyPr>
          <a:lstStyle/>
          <a:p>
            <a:pPr algn="l"/>
            <a:r>
              <a:rPr sz="1500" b="0">
                <a:solidFill>
                  <a:srgbClr val="202020"/>
                </a:solidFill>
                <a:latin typeface="微软雅黑"/>
              </a:rPr>
              <a:t>景区/校园等小规模垂直场景的
多策略RAG研究尚属空白 [6]</a:t>
            </a:r>
          </a:p>
        </p:txBody>
      </p:sp>
      <p:sp>
        <p:nvSpPr>
          <p:cNvPr id="31" name="TextBox 30"/>
          <p:cNvSpPr txBox="1"/>
          <p:nvPr/>
        </p:nvSpPr>
        <p:spPr>
          <a:xfrm>
            <a:off x="274320" y="6446520"/>
            <a:ext cx="10972800" cy="320040"/>
          </a:xfrm>
          <a:prstGeom prst="rect">
            <a:avLst/>
          </a:prstGeom>
          <a:noFill/>
        </p:spPr>
        <p:txBody>
          <a:bodyPr wrap="square">
            <a:spAutoFit/>
          </a:bodyPr>
          <a:lstStyle/>
          <a:p>
            <a:pPr algn="l"/>
            <a:r>
              <a:rPr sz="1100" b="0">
                <a:solidFill>
                  <a:srgbClr val="AAAAAA"/>
                </a:solidFill>
                <a:latin typeface="微软雅黑"/>
              </a:rPr>
              <a:t>引用：[1] Lewis et al., NeurIPS 2020  [6] Dong et al., ACL 2025  [10] Gao et al.,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1-2  选题意义</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5</a:t>
            </a:r>
          </a:p>
        </p:txBody>
      </p:sp>
      <p:sp>
        <p:nvSpPr>
          <p:cNvPr id="7" name="Rectangle 6"/>
          <p:cNvSpPr/>
          <p:nvPr/>
        </p:nvSpPr>
        <p:spPr>
          <a:xfrm>
            <a:off x="365760" y="1143000"/>
            <a:ext cx="3657600" cy="53949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43000"/>
            <a:ext cx="3657600" cy="73152"/>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783080" y="1325880"/>
            <a:ext cx="822960" cy="82296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1307592"/>
            <a:ext cx="822960" cy="804672"/>
          </a:xfrm>
          <a:prstGeom prst="rect">
            <a:avLst/>
          </a:prstGeom>
          <a:noFill/>
        </p:spPr>
        <p:txBody>
          <a:bodyPr wrap="square">
            <a:spAutoFit/>
          </a:bodyPr>
          <a:lstStyle/>
          <a:p>
            <a:pPr algn="ctr"/>
            <a:r>
              <a:rPr sz="2800" b="1">
                <a:solidFill>
                  <a:srgbClr val="FFFFFF"/>
                </a:solidFill>
                <a:latin typeface="微软雅黑"/>
              </a:rPr>
              <a:t>1</a:t>
            </a:r>
          </a:p>
        </p:txBody>
      </p:sp>
      <p:sp>
        <p:nvSpPr>
          <p:cNvPr id="11" name="TextBox 10"/>
          <p:cNvSpPr txBox="1"/>
          <p:nvPr/>
        </p:nvSpPr>
        <p:spPr>
          <a:xfrm>
            <a:off x="457200" y="2331720"/>
            <a:ext cx="3474720" cy="594360"/>
          </a:xfrm>
          <a:prstGeom prst="rect">
            <a:avLst/>
          </a:prstGeom>
          <a:noFill/>
        </p:spPr>
        <p:txBody>
          <a:bodyPr wrap="square">
            <a:spAutoFit/>
          </a:bodyPr>
          <a:lstStyle/>
          <a:p>
            <a:pPr algn="ctr"/>
            <a:r>
              <a:rPr sz="2200" b="1">
                <a:solidFill>
                  <a:srgbClr val="071F65"/>
                </a:solidFill>
                <a:latin typeface="微软雅黑"/>
              </a:rPr>
              <a:t>理论意义</a:t>
            </a:r>
          </a:p>
        </p:txBody>
      </p:sp>
      <p:sp>
        <p:nvSpPr>
          <p:cNvPr id="12" name="Rectangle 11"/>
          <p:cNvSpPr/>
          <p:nvPr/>
        </p:nvSpPr>
        <p:spPr>
          <a:xfrm>
            <a:off x="822960" y="2971800"/>
            <a:ext cx="2743200" cy="36576"/>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108960"/>
            <a:ext cx="3383280" cy="3200400"/>
          </a:xfrm>
          <a:prstGeom prst="rect">
            <a:avLst/>
          </a:prstGeom>
          <a:noFill/>
        </p:spPr>
        <p:txBody>
          <a:bodyPr wrap="square">
            <a:spAutoFit/>
          </a:bodyPr>
          <a:lstStyle/>
          <a:p>
            <a:pPr algn="l"/>
            <a:r>
              <a:rPr sz="1600" b="0">
                <a:solidFill>
                  <a:srgbClr val="202020"/>
                </a:solidFill>
                <a:latin typeface="微软雅黑"/>
              </a:rPr>
              <a:t>首次针对小规模垂直服务场景的用户请求异质性问题进行系统性建模，将请求划分为三类并设计对应检索路径，填补多策略RAG研究空白。</a:t>
            </a:r>
          </a:p>
        </p:txBody>
      </p:sp>
      <p:sp>
        <p:nvSpPr>
          <p:cNvPr id="14" name="Rectangle 13"/>
          <p:cNvSpPr/>
          <p:nvPr/>
        </p:nvSpPr>
        <p:spPr>
          <a:xfrm>
            <a:off x="4297680" y="1143000"/>
            <a:ext cx="3657600" cy="53949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143000"/>
            <a:ext cx="3657600" cy="73152"/>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15000" y="1325880"/>
            <a:ext cx="822960" cy="82296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1307592"/>
            <a:ext cx="822960" cy="804672"/>
          </a:xfrm>
          <a:prstGeom prst="rect">
            <a:avLst/>
          </a:prstGeom>
          <a:noFill/>
        </p:spPr>
        <p:txBody>
          <a:bodyPr wrap="square">
            <a:spAutoFit/>
          </a:bodyPr>
          <a:lstStyle/>
          <a:p>
            <a:pPr algn="ctr"/>
            <a:r>
              <a:rPr sz="2800" b="1">
                <a:solidFill>
                  <a:srgbClr val="FFFFFF"/>
                </a:solidFill>
                <a:latin typeface="微软雅黑"/>
              </a:rPr>
              <a:t>2</a:t>
            </a:r>
          </a:p>
        </p:txBody>
      </p:sp>
      <p:sp>
        <p:nvSpPr>
          <p:cNvPr id="18" name="TextBox 17"/>
          <p:cNvSpPr txBox="1"/>
          <p:nvPr/>
        </p:nvSpPr>
        <p:spPr>
          <a:xfrm>
            <a:off x="4389120" y="2331720"/>
            <a:ext cx="3474720" cy="594360"/>
          </a:xfrm>
          <a:prstGeom prst="rect">
            <a:avLst/>
          </a:prstGeom>
          <a:noFill/>
        </p:spPr>
        <p:txBody>
          <a:bodyPr wrap="square">
            <a:spAutoFit/>
          </a:bodyPr>
          <a:lstStyle/>
          <a:p>
            <a:pPr algn="ctr"/>
            <a:r>
              <a:rPr sz="2200" b="1">
                <a:solidFill>
                  <a:srgbClr val="348B9F"/>
                </a:solidFill>
                <a:latin typeface="微软雅黑"/>
              </a:rPr>
              <a:t>应用价值</a:t>
            </a:r>
          </a:p>
        </p:txBody>
      </p:sp>
      <p:sp>
        <p:nvSpPr>
          <p:cNvPr id="19" name="Rectangle 18"/>
          <p:cNvSpPr/>
          <p:nvPr/>
        </p:nvSpPr>
        <p:spPr>
          <a:xfrm>
            <a:off x="4754880" y="2971800"/>
            <a:ext cx="2743200" cy="36576"/>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3108960"/>
            <a:ext cx="3383280" cy="3200400"/>
          </a:xfrm>
          <a:prstGeom prst="rect">
            <a:avLst/>
          </a:prstGeom>
          <a:noFill/>
        </p:spPr>
        <p:txBody>
          <a:bodyPr wrap="square">
            <a:spAutoFit/>
          </a:bodyPr>
          <a:lstStyle/>
          <a:p>
            <a:pPr algn="l"/>
            <a:r>
              <a:rPr sz="1600" b="0">
                <a:solidFill>
                  <a:srgbClr val="202020"/>
                </a:solidFill>
                <a:latin typeface="微软雅黑"/>
              </a:rPr>
              <a:t>为洱海生态廊道等景区提供可复用的智能知识服务框架，支持事实问答、空间关系推理两类核心任务，具有直接落地价值。</a:t>
            </a:r>
          </a:p>
        </p:txBody>
      </p:sp>
      <p:sp>
        <p:nvSpPr>
          <p:cNvPr id="21" name="Rectangle 20"/>
          <p:cNvSpPr/>
          <p:nvPr/>
        </p:nvSpPr>
        <p:spPr>
          <a:xfrm>
            <a:off x="8229600" y="1143000"/>
            <a:ext cx="3657600" cy="53949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1143000"/>
            <a:ext cx="3657600" cy="7315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46920" y="1325880"/>
            <a:ext cx="822960" cy="82296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1307592"/>
            <a:ext cx="822960" cy="804672"/>
          </a:xfrm>
          <a:prstGeom prst="rect">
            <a:avLst/>
          </a:prstGeom>
          <a:noFill/>
        </p:spPr>
        <p:txBody>
          <a:bodyPr wrap="square">
            <a:spAutoFit/>
          </a:bodyPr>
          <a:lstStyle/>
          <a:p>
            <a:pPr algn="ctr"/>
            <a:r>
              <a:rPr sz="2800" b="1">
                <a:solidFill>
                  <a:srgbClr val="FFFFFF"/>
                </a:solidFill>
                <a:latin typeface="微软雅黑"/>
              </a:rPr>
              <a:t>3</a:t>
            </a:r>
          </a:p>
        </p:txBody>
      </p:sp>
      <p:sp>
        <p:nvSpPr>
          <p:cNvPr id="25" name="TextBox 24"/>
          <p:cNvSpPr txBox="1"/>
          <p:nvPr/>
        </p:nvSpPr>
        <p:spPr>
          <a:xfrm>
            <a:off x="8321040" y="2331720"/>
            <a:ext cx="3474720" cy="594360"/>
          </a:xfrm>
          <a:prstGeom prst="rect">
            <a:avLst/>
          </a:prstGeom>
          <a:noFill/>
        </p:spPr>
        <p:txBody>
          <a:bodyPr wrap="square">
            <a:spAutoFit/>
          </a:bodyPr>
          <a:lstStyle/>
          <a:p>
            <a:pPr algn="ctr"/>
            <a:r>
              <a:rPr sz="2200" b="1">
                <a:solidFill>
                  <a:srgbClr val="C00000"/>
                </a:solidFill>
                <a:latin typeface="微软雅黑"/>
              </a:rPr>
              <a:t>研究延续性</a:t>
            </a:r>
          </a:p>
        </p:txBody>
      </p:sp>
      <p:sp>
        <p:nvSpPr>
          <p:cNvPr id="26" name="Rectangle 25"/>
          <p:cNvSpPr/>
          <p:nvPr/>
        </p:nvSpPr>
        <p:spPr>
          <a:xfrm>
            <a:off x="8686800" y="2971800"/>
            <a:ext cx="2743200" cy="3657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108960"/>
            <a:ext cx="3383280" cy="3200400"/>
          </a:xfrm>
          <a:prstGeom prst="rect">
            <a:avLst/>
          </a:prstGeom>
          <a:noFill/>
        </p:spPr>
        <p:txBody>
          <a:bodyPr wrap="square">
            <a:spAutoFit/>
          </a:bodyPr>
          <a:lstStyle/>
          <a:p>
            <a:pPr algn="l"/>
            <a:r>
              <a:rPr sz="1600" b="0">
                <a:solidFill>
                  <a:srgbClr val="202020"/>
                </a:solidFill>
                <a:latin typeface="微软雅黑"/>
              </a:rPr>
              <a:t>在团队去年大创成果（事实问答模块）的基础上扩展，引入图谱检索与多策略路由，研究脉络清晰，具备完整连续性。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0" y="2194560"/>
            <a:ext cx="2286000" cy="914400"/>
          </a:xfrm>
          <a:prstGeom prst="rect">
            <a:avLst/>
          </a:prstGeom>
          <a:noFill/>
        </p:spPr>
        <p:txBody>
          <a:bodyPr wrap="square">
            <a:spAutoFit/>
          </a:bodyPr>
          <a:lstStyle/>
          <a:p>
            <a:pPr algn="l"/>
            <a:r>
              <a:rPr sz="2200" b="1">
                <a:solidFill>
                  <a:srgbClr val="FFFFFF"/>
                </a:solidFill>
                <a:latin typeface="微软雅黑"/>
              </a:rPr>
              <a:t>Part 2</a:t>
            </a:r>
          </a:p>
        </p:txBody>
      </p:sp>
      <p:sp>
        <p:nvSpPr>
          <p:cNvPr id="5" name="TextBox 4"/>
          <p:cNvSpPr txBox="1"/>
          <p:nvPr/>
        </p:nvSpPr>
        <p:spPr>
          <a:xfrm>
            <a:off x="5303520" y="1280160"/>
            <a:ext cx="2286000" cy="914400"/>
          </a:xfrm>
          <a:prstGeom prst="rect">
            <a:avLst/>
          </a:prstGeom>
          <a:noFill/>
        </p:spPr>
        <p:txBody>
          <a:bodyPr wrap="square">
            <a:spAutoFit/>
          </a:bodyPr>
          <a:lstStyle/>
          <a:p>
            <a:pPr algn="l"/>
            <a:r>
              <a:rPr sz="7200" b="1">
                <a:solidFill>
                  <a:srgbClr val="FFFFFF"/>
                </a:solidFill>
                <a:latin typeface="微软雅黑"/>
              </a:rPr>
              <a:t>02</a:t>
            </a:r>
          </a:p>
        </p:txBody>
      </p:sp>
      <p:sp>
        <p:nvSpPr>
          <p:cNvPr id="6" name="TextBox 5"/>
          <p:cNvSpPr txBox="1"/>
          <p:nvPr/>
        </p:nvSpPr>
        <p:spPr>
          <a:xfrm>
            <a:off x="7772400" y="2743200"/>
            <a:ext cx="4114800" cy="1097280"/>
          </a:xfrm>
          <a:prstGeom prst="rect">
            <a:avLst/>
          </a:prstGeom>
          <a:noFill/>
        </p:spPr>
        <p:txBody>
          <a:bodyPr wrap="square">
            <a:spAutoFit/>
          </a:bodyPr>
          <a:lstStyle/>
          <a:p>
            <a:pPr algn="l"/>
            <a:r>
              <a:rPr sz="4000" b="1">
                <a:solidFill>
                  <a:srgbClr val="FFFFFF"/>
                </a:solidFill>
                <a:latin typeface="微软雅黑"/>
              </a:rPr>
              <a:t>研究现状分析</a:t>
            </a:r>
          </a:p>
        </p:txBody>
      </p:sp>
      <p:sp>
        <p:nvSpPr>
          <p:cNvPr id="7" name="Rectangle 6"/>
          <p:cNvSpPr/>
          <p:nvPr/>
        </p:nvSpPr>
        <p:spPr>
          <a:xfrm>
            <a:off x="914400" y="3200400"/>
            <a:ext cx="3474720" cy="54864"/>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657600" cy="731520"/>
          </a:xfrm>
          <a:prstGeom prst="rect">
            <a:avLst/>
          </a:prstGeom>
          <a:noFill/>
        </p:spPr>
        <p:txBody>
          <a:bodyPr wrap="square">
            <a:spAutoFit/>
          </a:bodyPr>
          <a:lstStyle/>
          <a:p>
            <a:pPr algn="l"/>
            <a:r>
              <a:rPr sz="2800" b="1">
                <a:solidFill>
                  <a:srgbClr val="071F65"/>
                </a:solidFill>
                <a:latin typeface="微软雅黑"/>
              </a:rPr>
              <a:t>PART  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2-1  国内外研究现状</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7</a:t>
            </a:r>
          </a:p>
        </p:txBody>
      </p:sp>
      <p:sp>
        <p:nvSpPr>
          <p:cNvPr id="7" name="Rectangle 6"/>
          <p:cNvSpPr/>
          <p:nvPr/>
        </p:nvSpPr>
        <p:spPr>
          <a:xfrm>
            <a:off x="274320" y="1143000"/>
            <a:ext cx="5486400" cy="50292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61288"/>
            <a:ext cx="5303520" cy="457200"/>
          </a:xfrm>
          <a:prstGeom prst="rect">
            <a:avLst/>
          </a:prstGeom>
          <a:noFill/>
        </p:spPr>
        <p:txBody>
          <a:bodyPr wrap="square">
            <a:spAutoFit/>
          </a:bodyPr>
          <a:lstStyle/>
          <a:p>
            <a:pPr algn="l"/>
            <a:r>
              <a:rPr sz="2000" b="1">
                <a:solidFill>
                  <a:srgbClr val="FFFFFF"/>
                </a:solidFill>
                <a:latin typeface="微软雅黑"/>
              </a:rPr>
              <a:t>🌐  国际前沿</a:t>
            </a:r>
          </a:p>
        </p:txBody>
      </p:sp>
      <p:sp>
        <p:nvSpPr>
          <p:cNvPr id="9" name="Rectangle 8"/>
          <p:cNvSpPr/>
          <p:nvPr/>
        </p:nvSpPr>
        <p:spPr>
          <a:xfrm>
            <a:off x="274320" y="1783080"/>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64792"/>
            <a:ext cx="5120640" cy="411480"/>
          </a:xfrm>
          <a:prstGeom prst="rect">
            <a:avLst/>
          </a:prstGeom>
          <a:noFill/>
        </p:spPr>
        <p:txBody>
          <a:bodyPr wrap="square">
            <a:spAutoFit/>
          </a:bodyPr>
          <a:lstStyle/>
          <a:p>
            <a:pPr algn="l"/>
            <a:r>
              <a:rPr sz="1600" b="1">
                <a:solidFill>
                  <a:srgbClr val="071F65"/>
                </a:solidFill>
                <a:latin typeface="微软雅黑"/>
              </a:rPr>
              <a:t>[4] Microsoft GraphRAG</a:t>
            </a:r>
          </a:p>
        </p:txBody>
      </p:sp>
      <p:sp>
        <p:nvSpPr>
          <p:cNvPr id="11" name="TextBox 10"/>
          <p:cNvSpPr txBox="1"/>
          <p:nvPr/>
        </p:nvSpPr>
        <p:spPr>
          <a:xfrm>
            <a:off x="457200" y="2130552"/>
            <a:ext cx="5120640" cy="502920"/>
          </a:xfrm>
          <a:prstGeom prst="rect">
            <a:avLst/>
          </a:prstGeom>
          <a:noFill/>
        </p:spPr>
        <p:txBody>
          <a:bodyPr wrap="square">
            <a:spAutoFit/>
          </a:bodyPr>
          <a:lstStyle/>
          <a:p>
            <a:pPr algn="l"/>
            <a:r>
              <a:rPr sz="1400" b="0">
                <a:solidFill>
                  <a:srgbClr val="202020"/>
                </a:solidFill>
                <a:latin typeface="微软雅黑"/>
              </a:rPr>
              <a:t>图结构检索，验证了知识图谱在关系推理任务上的显著优势</a:t>
            </a:r>
          </a:p>
        </p:txBody>
      </p:sp>
      <p:sp>
        <p:nvSpPr>
          <p:cNvPr id="12" name="Rectangle 11"/>
          <p:cNvSpPr/>
          <p:nvPr/>
        </p:nvSpPr>
        <p:spPr>
          <a:xfrm>
            <a:off x="274320" y="2880360"/>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862072"/>
            <a:ext cx="5120640" cy="411480"/>
          </a:xfrm>
          <a:prstGeom prst="rect">
            <a:avLst/>
          </a:prstGeom>
          <a:noFill/>
        </p:spPr>
        <p:txBody>
          <a:bodyPr wrap="square">
            <a:spAutoFit/>
          </a:bodyPr>
          <a:lstStyle/>
          <a:p>
            <a:pPr algn="l"/>
            <a:r>
              <a:rPr sz="1600" b="1">
                <a:solidFill>
                  <a:srgbClr val="071F65"/>
                </a:solidFill>
                <a:latin typeface="微软雅黑"/>
              </a:rPr>
              <a:t>[1] Meta REALM / RAG</a:t>
            </a:r>
          </a:p>
        </p:txBody>
      </p:sp>
      <p:sp>
        <p:nvSpPr>
          <p:cNvPr id="14" name="TextBox 13"/>
          <p:cNvSpPr txBox="1"/>
          <p:nvPr/>
        </p:nvSpPr>
        <p:spPr>
          <a:xfrm>
            <a:off x="457200" y="3227832"/>
            <a:ext cx="5120640" cy="502920"/>
          </a:xfrm>
          <a:prstGeom prst="rect">
            <a:avLst/>
          </a:prstGeom>
          <a:noFill/>
        </p:spPr>
        <p:txBody>
          <a:bodyPr wrap="square">
            <a:spAutoFit/>
          </a:bodyPr>
          <a:lstStyle/>
          <a:p>
            <a:pPr algn="l"/>
            <a:r>
              <a:rPr sz="1400" b="0">
                <a:solidFill>
                  <a:srgbClr val="202020"/>
                </a:solidFill>
                <a:latin typeface="微软雅黑"/>
              </a:rPr>
              <a:t>稠密检索与生成结合，奠定现代RAG基础范式</a:t>
            </a:r>
          </a:p>
        </p:txBody>
      </p:sp>
      <p:sp>
        <p:nvSpPr>
          <p:cNvPr id="15" name="Rectangle 14"/>
          <p:cNvSpPr/>
          <p:nvPr/>
        </p:nvSpPr>
        <p:spPr>
          <a:xfrm>
            <a:off x="274320" y="3977639"/>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959351"/>
            <a:ext cx="5120640" cy="411480"/>
          </a:xfrm>
          <a:prstGeom prst="rect">
            <a:avLst/>
          </a:prstGeom>
          <a:noFill/>
        </p:spPr>
        <p:txBody>
          <a:bodyPr wrap="square">
            <a:spAutoFit/>
          </a:bodyPr>
          <a:lstStyle/>
          <a:p>
            <a:pPr algn="l"/>
            <a:r>
              <a:rPr sz="1600" b="1">
                <a:solidFill>
                  <a:srgbClr val="071F65"/>
                </a:solidFill>
                <a:latin typeface="微软雅黑"/>
              </a:rPr>
              <a:t>[9] Self-RAG (华盛顿大学)</a:t>
            </a:r>
          </a:p>
        </p:txBody>
      </p:sp>
      <p:sp>
        <p:nvSpPr>
          <p:cNvPr id="17" name="TextBox 16"/>
          <p:cNvSpPr txBox="1"/>
          <p:nvPr/>
        </p:nvSpPr>
        <p:spPr>
          <a:xfrm>
            <a:off x="457200" y="4325111"/>
            <a:ext cx="5120640" cy="502920"/>
          </a:xfrm>
          <a:prstGeom prst="rect">
            <a:avLst/>
          </a:prstGeom>
          <a:noFill/>
        </p:spPr>
        <p:txBody>
          <a:bodyPr wrap="square">
            <a:spAutoFit/>
          </a:bodyPr>
          <a:lstStyle/>
          <a:p>
            <a:pPr algn="l"/>
            <a:r>
              <a:rPr sz="1400" b="0">
                <a:solidFill>
                  <a:srgbClr val="202020"/>
                </a:solidFill>
                <a:latin typeface="微软雅黑"/>
              </a:rPr>
              <a:t>自适应按需检索，引入反思令牌提升可靠性</a:t>
            </a:r>
          </a:p>
        </p:txBody>
      </p:sp>
      <p:sp>
        <p:nvSpPr>
          <p:cNvPr id="18" name="Rectangle 17"/>
          <p:cNvSpPr/>
          <p:nvPr/>
        </p:nvSpPr>
        <p:spPr>
          <a:xfrm>
            <a:off x="274320" y="5074920"/>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056632"/>
            <a:ext cx="5120640" cy="411480"/>
          </a:xfrm>
          <a:prstGeom prst="rect">
            <a:avLst/>
          </a:prstGeom>
          <a:noFill/>
        </p:spPr>
        <p:txBody>
          <a:bodyPr wrap="square">
            <a:spAutoFit/>
          </a:bodyPr>
          <a:lstStyle/>
          <a:p>
            <a:pPr algn="l"/>
            <a:r>
              <a:rPr sz="1600" b="1">
                <a:solidFill>
                  <a:srgbClr val="071F65"/>
                </a:solidFill>
                <a:latin typeface="微软雅黑"/>
              </a:rPr>
              <a:t>[8] ReAct (谷歌/普林斯顿)</a:t>
            </a:r>
          </a:p>
        </p:txBody>
      </p:sp>
      <p:sp>
        <p:nvSpPr>
          <p:cNvPr id="20" name="TextBox 19"/>
          <p:cNvSpPr txBox="1"/>
          <p:nvPr/>
        </p:nvSpPr>
        <p:spPr>
          <a:xfrm>
            <a:off x="457200" y="5422392"/>
            <a:ext cx="5120640" cy="502920"/>
          </a:xfrm>
          <a:prstGeom prst="rect">
            <a:avLst/>
          </a:prstGeom>
          <a:noFill/>
        </p:spPr>
        <p:txBody>
          <a:bodyPr wrap="square">
            <a:spAutoFit/>
          </a:bodyPr>
          <a:lstStyle/>
          <a:p>
            <a:pPr algn="l"/>
            <a:r>
              <a:rPr sz="1400" b="0">
                <a:solidFill>
                  <a:srgbClr val="202020"/>
                </a:solidFill>
                <a:latin typeface="微软雅黑"/>
              </a:rPr>
              <a:t>推理与行动交错，构建Agentic RAG重要基础</a:t>
            </a:r>
          </a:p>
        </p:txBody>
      </p:sp>
      <p:sp>
        <p:nvSpPr>
          <p:cNvPr id="21" name="Rectangle 20"/>
          <p:cNvSpPr/>
          <p:nvPr/>
        </p:nvSpPr>
        <p:spPr>
          <a:xfrm>
            <a:off x="6217920" y="1143000"/>
            <a:ext cx="5669280" cy="50292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161288"/>
            <a:ext cx="5486400" cy="457200"/>
          </a:xfrm>
          <a:prstGeom prst="rect">
            <a:avLst/>
          </a:prstGeom>
          <a:noFill/>
        </p:spPr>
        <p:txBody>
          <a:bodyPr wrap="square">
            <a:spAutoFit/>
          </a:bodyPr>
          <a:lstStyle/>
          <a:p>
            <a:pPr algn="l"/>
            <a:r>
              <a:rPr sz="2000" b="1">
                <a:solidFill>
                  <a:srgbClr val="FFFFFF"/>
                </a:solidFill>
                <a:latin typeface="微软雅黑"/>
              </a:rPr>
              <a:t>🇨🇳  国内进展</a:t>
            </a:r>
          </a:p>
        </p:txBody>
      </p:sp>
      <p:sp>
        <p:nvSpPr>
          <p:cNvPr id="23" name="Rectangle 22"/>
          <p:cNvSpPr/>
          <p:nvPr/>
        </p:nvSpPr>
        <p:spPr>
          <a:xfrm>
            <a:off x="6217920" y="1783080"/>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1764792"/>
            <a:ext cx="5303520" cy="411480"/>
          </a:xfrm>
          <a:prstGeom prst="rect">
            <a:avLst/>
          </a:prstGeom>
          <a:noFill/>
        </p:spPr>
        <p:txBody>
          <a:bodyPr wrap="square">
            <a:spAutoFit/>
          </a:bodyPr>
          <a:lstStyle/>
          <a:p>
            <a:pPr algn="l"/>
            <a:r>
              <a:rPr sz="1600" b="1">
                <a:solidFill>
                  <a:srgbClr val="348B9F"/>
                </a:solidFill>
                <a:latin typeface="微软雅黑"/>
              </a:rPr>
              <a:t>阿里 / 百度 垂直RAG</a:t>
            </a:r>
          </a:p>
        </p:txBody>
      </p:sp>
      <p:sp>
        <p:nvSpPr>
          <p:cNvPr id="25" name="TextBox 24"/>
          <p:cNvSpPr txBox="1"/>
          <p:nvPr/>
        </p:nvSpPr>
        <p:spPr>
          <a:xfrm>
            <a:off x="6400800" y="2130552"/>
            <a:ext cx="5303520" cy="502920"/>
          </a:xfrm>
          <a:prstGeom prst="rect">
            <a:avLst/>
          </a:prstGeom>
          <a:noFill/>
        </p:spPr>
        <p:txBody>
          <a:bodyPr wrap="square">
            <a:spAutoFit/>
          </a:bodyPr>
          <a:lstStyle/>
          <a:p>
            <a:pPr algn="l"/>
            <a:r>
              <a:rPr sz="1400" b="0">
                <a:solidFill>
                  <a:srgbClr val="202020"/>
                </a:solidFill>
                <a:latin typeface="微软雅黑"/>
              </a:rPr>
              <a:t>探索面向垂直领域的多路径检索框架，覆盖电商、医疗、金融等场景</a:t>
            </a:r>
          </a:p>
        </p:txBody>
      </p:sp>
      <p:sp>
        <p:nvSpPr>
          <p:cNvPr id="26" name="Rectangle 25"/>
          <p:cNvSpPr/>
          <p:nvPr/>
        </p:nvSpPr>
        <p:spPr>
          <a:xfrm>
            <a:off x="6217920" y="2880360"/>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862072"/>
            <a:ext cx="5303520" cy="411480"/>
          </a:xfrm>
          <a:prstGeom prst="rect">
            <a:avLst/>
          </a:prstGeom>
          <a:noFill/>
        </p:spPr>
        <p:txBody>
          <a:bodyPr wrap="square">
            <a:spAutoFit/>
          </a:bodyPr>
          <a:lstStyle/>
          <a:p>
            <a:pPr algn="l"/>
            <a:r>
              <a:rPr sz="1600" b="1">
                <a:solidFill>
                  <a:srgbClr val="348B9F"/>
                </a:solidFill>
                <a:latin typeface="微软雅黑"/>
              </a:rPr>
              <a:t>[10] RAG综述 (同济/复旦)</a:t>
            </a:r>
          </a:p>
        </p:txBody>
      </p:sp>
      <p:sp>
        <p:nvSpPr>
          <p:cNvPr id="28" name="TextBox 27"/>
          <p:cNvSpPr txBox="1"/>
          <p:nvPr/>
        </p:nvSpPr>
        <p:spPr>
          <a:xfrm>
            <a:off x="6400800" y="3227832"/>
            <a:ext cx="5303520" cy="502920"/>
          </a:xfrm>
          <a:prstGeom prst="rect">
            <a:avLst/>
          </a:prstGeom>
          <a:noFill/>
        </p:spPr>
        <p:txBody>
          <a:bodyPr wrap="square">
            <a:spAutoFit/>
          </a:bodyPr>
          <a:lstStyle/>
          <a:p>
            <a:pPr algn="l"/>
            <a:r>
              <a:rPr sz="1400" b="0">
                <a:solidFill>
                  <a:srgbClr val="202020"/>
                </a:solidFill>
                <a:latin typeface="微软雅黑"/>
              </a:rPr>
              <a:t>系统梳理Naive→Advanced→Modular RAG演化路径</a:t>
            </a:r>
          </a:p>
        </p:txBody>
      </p:sp>
      <p:sp>
        <p:nvSpPr>
          <p:cNvPr id="29" name="Rectangle 28"/>
          <p:cNvSpPr/>
          <p:nvPr/>
        </p:nvSpPr>
        <p:spPr>
          <a:xfrm>
            <a:off x="6217920" y="3977639"/>
            <a:ext cx="73152" cy="4572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3959351"/>
            <a:ext cx="5303520" cy="411480"/>
          </a:xfrm>
          <a:prstGeom prst="rect">
            <a:avLst/>
          </a:prstGeom>
          <a:noFill/>
        </p:spPr>
        <p:txBody>
          <a:bodyPr wrap="square">
            <a:spAutoFit/>
          </a:bodyPr>
          <a:lstStyle/>
          <a:p>
            <a:pPr algn="l"/>
            <a:r>
              <a:rPr sz="1600" b="1">
                <a:solidFill>
                  <a:srgbClr val="348B9F"/>
                </a:solidFill>
                <a:latin typeface="微软雅黑"/>
              </a:rPr>
              <a:t>[11] CRAG (中科大/UCLA)</a:t>
            </a:r>
          </a:p>
        </p:txBody>
      </p:sp>
      <p:sp>
        <p:nvSpPr>
          <p:cNvPr id="31" name="TextBox 30"/>
          <p:cNvSpPr txBox="1"/>
          <p:nvPr/>
        </p:nvSpPr>
        <p:spPr>
          <a:xfrm>
            <a:off x="6400800" y="4325111"/>
            <a:ext cx="5303520" cy="502920"/>
          </a:xfrm>
          <a:prstGeom prst="rect">
            <a:avLst/>
          </a:prstGeom>
          <a:noFill/>
        </p:spPr>
        <p:txBody>
          <a:bodyPr wrap="square">
            <a:spAutoFit/>
          </a:bodyPr>
          <a:lstStyle/>
          <a:p>
            <a:pPr algn="l"/>
            <a:r>
              <a:rPr sz="1400" b="0">
                <a:solidFill>
                  <a:srgbClr val="202020"/>
                </a:solidFill>
                <a:latin typeface="微软雅黑"/>
              </a:rPr>
              <a:t>纠错检索增强，引入置信度评估触发不同检索策略</a:t>
            </a:r>
          </a:p>
        </p:txBody>
      </p:sp>
      <p:sp>
        <p:nvSpPr>
          <p:cNvPr id="32" name="Rectangle 31"/>
          <p:cNvSpPr/>
          <p:nvPr/>
        </p:nvSpPr>
        <p:spPr>
          <a:xfrm>
            <a:off x="6217920" y="5074920"/>
            <a:ext cx="73152" cy="4572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5056632"/>
            <a:ext cx="5303520" cy="411480"/>
          </a:xfrm>
          <a:prstGeom prst="rect">
            <a:avLst/>
          </a:prstGeom>
          <a:noFill/>
        </p:spPr>
        <p:txBody>
          <a:bodyPr wrap="square">
            <a:spAutoFit/>
          </a:bodyPr>
          <a:lstStyle/>
          <a:p>
            <a:pPr algn="l"/>
            <a:r>
              <a:rPr sz="1600" b="1">
                <a:solidFill>
                  <a:srgbClr val="C00000"/>
                </a:solidFill>
                <a:latin typeface="微软雅黑"/>
              </a:rPr>
              <a:t>共同局限</a:t>
            </a:r>
          </a:p>
        </p:txBody>
      </p:sp>
      <p:sp>
        <p:nvSpPr>
          <p:cNvPr id="34" name="TextBox 33"/>
          <p:cNvSpPr txBox="1"/>
          <p:nvPr/>
        </p:nvSpPr>
        <p:spPr>
          <a:xfrm>
            <a:off x="6400800" y="5422392"/>
            <a:ext cx="5303520" cy="502920"/>
          </a:xfrm>
          <a:prstGeom prst="rect">
            <a:avLst/>
          </a:prstGeom>
          <a:noFill/>
        </p:spPr>
        <p:txBody>
          <a:bodyPr wrap="square">
            <a:spAutoFit/>
          </a:bodyPr>
          <a:lstStyle/>
          <a:p>
            <a:pPr algn="l"/>
            <a:r>
              <a:rPr sz="1400" b="0">
                <a:solidFill>
                  <a:srgbClr val="202020"/>
                </a:solidFill>
                <a:latin typeface="微软雅黑"/>
              </a:rPr>
              <a:t>上述工作均未针对景区/校园等小规模垂直场景的任务异质性进行系统研究</a:t>
            </a:r>
          </a:p>
        </p:txBody>
      </p:sp>
      <p:sp>
        <p:nvSpPr>
          <p:cNvPr id="35" name="Rectangle 34"/>
          <p:cNvSpPr/>
          <p:nvPr/>
        </p:nvSpPr>
        <p:spPr>
          <a:xfrm>
            <a:off x="5989320" y="1143000"/>
            <a:ext cx="36576" cy="512064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6446520"/>
            <a:ext cx="11430000" cy="320040"/>
          </a:xfrm>
          <a:prstGeom prst="rect">
            <a:avLst/>
          </a:prstGeom>
          <a:noFill/>
        </p:spPr>
        <p:txBody>
          <a:bodyPr wrap="square">
            <a:spAutoFit/>
          </a:bodyPr>
          <a:lstStyle/>
          <a:p>
            <a:pPr algn="l"/>
            <a:r>
              <a:rPr sz="1100" b="0">
                <a:solidFill>
                  <a:srgbClr val="AAAAAA"/>
                </a:solidFill>
                <a:latin typeface="微软雅黑"/>
              </a:rPr>
              <a:t>引用：[1][4][8][9][10][11]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2-2  现有方法的三大不足</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8</a:t>
            </a:r>
          </a:p>
        </p:txBody>
      </p:sp>
      <p:sp>
        <p:nvSpPr>
          <p:cNvPr id="7" name="Rectangle 6"/>
          <p:cNvSpPr/>
          <p:nvPr/>
        </p:nvSpPr>
        <p:spPr>
          <a:xfrm>
            <a:off x="274320" y="1188720"/>
            <a:ext cx="1152144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88720"/>
            <a:ext cx="91440" cy="13716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0972800" cy="457200"/>
          </a:xfrm>
          <a:prstGeom prst="rect">
            <a:avLst/>
          </a:prstGeom>
          <a:noFill/>
        </p:spPr>
        <p:txBody>
          <a:bodyPr wrap="square">
            <a:spAutoFit/>
          </a:bodyPr>
          <a:lstStyle/>
          <a:p>
            <a:pPr algn="l"/>
            <a:r>
              <a:rPr sz="2000" b="1">
                <a:solidFill>
                  <a:srgbClr val="C00000"/>
                </a:solidFill>
                <a:latin typeface="微软雅黑"/>
              </a:rPr>
              <a:t>❶  任务类型无法区分</a:t>
            </a:r>
          </a:p>
        </p:txBody>
      </p:sp>
      <p:sp>
        <p:nvSpPr>
          <p:cNvPr id="10" name="TextBox 9"/>
          <p:cNvSpPr txBox="1"/>
          <p:nvPr/>
        </p:nvSpPr>
        <p:spPr>
          <a:xfrm>
            <a:off x="502920" y="1737360"/>
            <a:ext cx="10972800" cy="685800"/>
          </a:xfrm>
          <a:prstGeom prst="rect">
            <a:avLst/>
          </a:prstGeom>
          <a:noFill/>
        </p:spPr>
        <p:txBody>
          <a:bodyPr wrap="square">
            <a:spAutoFit/>
          </a:bodyPr>
          <a:lstStyle/>
          <a:p>
            <a:pPr algn="l"/>
            <a:r>
              <a:rPr sz="1600" b="0">
                <a:solidFill>
                  <a:srgbClr val="202020"/>
                </a:solidFill>
                <a:latin typeface="微软雅黑"/>
              </a:rPr>
              <a:t>现有RAG系统将事实查询、空间关系推理、路线规划视作同类问题，
采用统一检索策略，导致非事实类任务准确率大幅下降。</a:t>
            </a:r>
          </a:p>
        </p:txBody>
      </p:sp>
      <p:sp>
        <p:nvSpPr>
          <p:cNvPr id="11" name="Rectangle 10"/>
          <p:cNvSpPr/>
          <p:nvPr/>
        </p:nvSpPr>
        <p:spPr>
          <a:xfrm>
            <a:off x="274320" y="2788920"/>
            <a:ext cx="1152144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788920"/>
            <a:ext cx="91440" cy="13716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880360"/>
            <a:ext cx="10972800" cy="457200"/>
          </a:xfrm>
          <a:prstGeom prst="rect">
            <a:avLst/>
          </a:prstGeom>
          <a:noFill/>
        </p:spPr>
        <p:txBody>
          <a:bodyPr wrap="square">
            <a:spAutoFit/>
          </a:bodyPr>
          <a:lstStyle/>
          <a:p>
            <a:pPr algn="l"/>
            <a:r>
              <a:rPr sz="2000" b="1">
                <a:solidFill>
                  <a:srgbClr val="071F65"/>
                </a:solidFill>
                <a:latin typeface="微软雅黑"/>
              </a:rPr>
              <a:t>❷  检索策略缺乏差异化</a:t>
            </a:r>
          </a:p>
        </p:txBody>
      </p:sp>
      <p:sp>
        <p:nvSpPr>
          <p:cNvPr id="14" name="TextBox 13"/>
          <p:cNvSpPr txBox="1"/>
          <p:nvPr/>
        </p:nvSpPr>
        <p:spPr>
          <a:xfrm>
            <a:off x="502920" y="3337560"/>
            <a:ext cx="10972800" cy="685800"/>
          </a:xfrm>
          <a:prstGeom prst="rect">
            <a:avLst/>
          </a:prstGeom>
          <a:noFill/>
        </p:spPr>
        <p:txBody>
          <a:bodyPr wrap="square">
            <a:spAutoFit/>
          </a:bodyPr>
          <a:lstStyle/>
          <a:p>
            <a:pPr algn="l"/>
            <a:r>
              <a:rPr sz="1600" b="0">
                <a:solidFill>
                  <a:srgbClr val="202020"/>
                </a:solidFill>
                <a:latin typeface="微软雅黑"/>
              </a:rPr>
              <a:t>单一向量检索对关系密集型（图结构）问题效果有限；
纯关键词检索对语义相似查询召回率低。两种极端均不适用。</a:t>
            </a:r>
          </a:p>
        </p:txBody>
      </p:sp>
      <p:sp>
        <p:nvSpPr>
          <p:cNvPr id="15" name="Rectangle 14"/>
          <p:cNvSpPr/>
          <p:nvPr/>
        </p:nvSpPr>
        <p:spPr>
          <a:xfrm>
            <a:off x="274320" y="4389120"/>
            <a:ext cx="1152144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389120"/>
            <a:ext cx="91440" cy="13716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480560"/>
            <a:ext cx="10972800" cy="457200"/>
          </a:xfrm>
          <a:prstGeom prst="rect">
            <a:avLst/>
          </a:prstGeom>
          <a:noFill/>
        </p:spPr>
        <p:txBody>
          <a:bodyPr wrap="square">
            <a:spAutoFit/>
          </a:bodyPr>
          <a:lstStyle/>
          <a:p>
            <a:pPr algn="l"/>
            <a:r>
              <a:rPr sz="2000" b="1">
                <a:solidFill>
                  <a:srgbClr val="348B9F"/>
                </a:solidFill>
                <a:latin typeface="微软雅黑"/>
              </a:rPr>
              <a:t>❸  生成结果缺乏可靠验证</a:t>
            </a:r>
          </a:p>
        </p:txBody>
      </p:sp>
      <p:sp>
        <p:nvSpPr>
          <p:cNvPr id="18" name="TextBox 17"/>
          <p:cNvSpPr txBox="1"/>
          <p:nvPr/>
        </p:nvSpPr>
        <p:spPr>
          <a:xfrm>
            <a:off x="502920" y="4937760"/>
            <a:ext cx="10972800" cy="685800"/>
          </a:xfrm>
          <a:prstGeom prst="rect">
            <a:avLst/>
          </a:prstGeom>
          <a:noFill/>
        </p:spPr>
        <p:txBody>
          <a:bodyPr wrap="square">
            <a:spAutoFit/>
          </a:bodyPr>
          <a:lstStyle/>
          <a:p>
            <a:pPr algn="l"/>
            <a:r>
              <a:rPr sz="1600" b="0">
                <a:solidFill>
                  <a:srgbClr val="202020"/>
                </a:solidFill>
                <a:latin typeface="微软雅黑"/>
              </a:rPr>
              <a:t>大多数RAG系统在生成阶段缺少事后验证机制，
面对时效性冲突或约束违反时无法主动纠错，幻觉风险高。</a:t>
            </a:r>
          </a:p>
        </p:txBody>
      </p:sp>
      <p:sp>
        <p:nvSpPr>
          <p:cNvPr id="19" name="Rectangle 18"/>
          <p:cNvSpPr/>
          <p:nvPr/>
        </p:nvSpPr>
        <p:spPr>
          <a:xfrm>
            <a:off x="274320" y="5852160"/>
            <a:ext cx="1152144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897880"/>
            <a:ext cx="11155680" cy="566928"/>
          </a:xfrm>
          <a:prstGeom prst="rect">
            <a:avLst/>
          </a:prstGeom>
          <a:noFill/>
        </p:spPr>
        <p:txBody>
          <a:bodyPr wrap="square">
            <a:spAutoFit/>
          </a:bodyPr>
          <a:lstStyle/>
          <a:p>
            <a:pPr algn="l"/>
            <a:r>
              <a:rPr sz="1800" b="1">
                <a:solidFill>
                  <a:srgbClr val="FFFFFF"/>
                </a:solidFill>
                <a:latin typeface="微软雅黑"/>
              </a:rPr>
              <a:t>→  本项目提出「多策略 Agentic RAG 框架」，针对性解决以上三大问题</a:t>
            </a:r>
          </a:p>
        </p:txBody>
      </p:sp>
      <p:sp>
        <p:nvSpPr>
          <p:cNvPr id="21" name="TextBox 20"/>
          <p:cNvSpPr txBox="1"/>
          <p:nvPr/>
        </p:nvSpPr>
        <p:spPr>
          <a:xfrm>
            <a:off x="274320" y="6473952"/>
            <a:ext cx="11430000" cy="274320"/>
          </a:xfrm>
          <a:prstGeom prst="rect">
            <a:avLst/>
          </a:prstGeom>
          <a:noFill/>
        </p:spPr>
        <p:txBody>
          <a:bodyPr wrap="square">
            <a:spAutoFit/>
          </a:bodyPr>
          <a:lstStyle/>
          <a:p>
            <a:pPr algn="l"/>
            <a:r>
              <a:rPr sz="1100" b="0">
                <a:solidFill>
                  <a:srgbClr val="AAAAAA"/>
                </a:solidFill>
                <a:latin typeface="微软雅黑"/>
              </a:rPr>
              <a:t>引用：[2][3][5][6][7]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0" y="2194560"/>
            <a:ext cx="2286000" cy="914400"/>
          </a:xfrm>
          <a:prstGeom prst="rect">
            <a:avLst/>
          </a:prstGeom>
          <a:noFill/>
        </p:spPr>
        <p:txBody>
          <a:bodyPr wrap="square">
            <a:spAutoFit/>
          </a:bodyPr>
          <a:lstStyle/>
          <a:p>
            <a:pPr algn="l"/>
            <a:r>
              <a:rPr sz="2200" b="1">
                <a:solidFill>
                  <a:srgbClr val="FFFFFF"/>
                </a:solidFill>
                <a:latin typeface="微软雅黑"/>
              </a:rPr>
              <a:t>Part 3</a:t>
            </a:r>
          </a:p>
        </p:txBody>
      </p:sp>
      <p:sp>
        <p:nvSpPr>
          <p:cNvPr id="5" name="TextBox 4"/>
          <p:cNvSpPr txBox="1"/>
          <p:nvPr/>
        </p:nvSpPr>
        <p:spPr>
          <a:xfrm>
            <a:off x="5303520" y="1280160"/>
            <a:ext cx="2286000" cy="914400"/>
          </a:xfrm>
          <a:prstGeom prst="rect">
            <a:avLst/>
          </a:prstGeom>
          <a:noFill/>
        </p:spPr>
        <p:txBody>
          <a:bodyPr wrap="square">
            <a:spAutoFit/>
          </a:bodyPr>
          <a:lstStyle/>
          <a:p>
            <a:pPr algn="l"/>
            <a:r>
              <a:rPr sz="7200" b="1">
                <a:solidFill>
                  <a:srgbClr val="FFFFFF"/>
                </a:solidFill>
                <a:latin typeface="微软雅黑"/>
              </a:rPr>
              <a:t>03</a:t>
            </a:r>
          </a:p>
        </p:txBody>
      </p:sp>
      <p:sp>
        <p:nvSpPr>
          <p:cNvPr id="6" name="TextBox 5"/>
          <p:cNvSpPr txBox="1"/>
          <p:nvPr/>
        </p:nvSpPr>
        <p:spPr>
          <a:xfrm>
            <a:off x="7772400" y="2743200"/>
            <a:ext cx="4114800" cy="1097280"/>
          </a:xfrm>
          <a:prstGeom prst="rect">
            <a:avLst/>
          </a:prstGeom>
          <a:noFill/>
        </p:spPr>
        <p:txBody>
          <a:bodyPr wrap="square">
            <a:spAutoFit/>
          </a:bodyPr>
          <a:lstStyle/>
          <a:p>
            <a:pPr algn="l"/>
            <a:r>
              <a:rPr sz="4000" b="1">
                <a:solidFill>
                  <a:srgbClr val="FFFFFF"/>
                </a:solidFill>
                <a:latin typeface="微软雅黑"/>
              </a:rPr>
              <a:t>主要研究内容</a:t>
            </a:r>
          </a:p>
        </p:txBody>
      </p:sp>
      <p:sp>
        <p:nvSpPr>
          <p:cNvPr id="7" name="Rectangle 6"/>
          <p:cNvSpPr/>
          <p:nvPr/>
        </p:nvSpPr>
        <p:spPr>
          <a:xfrm>
            <a:off x="914400" y="3200400"/>
            <a:ext cx="3474720" cy="54864"/>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657600" cy="731520"/>
          </a:xfrm>
          <a:prstGeom prst="rect">
            <a:avLst/>
          </a:prstGeom>
          <a:noFill/>
        </p:spPr>
        <p:txBody>
          <a:bodyPr wrap="square">
            <a:spAutoFit/>
          </a:bodyPr>
          <a:lstStyle/>
          <a:p>
            <a:pPr algn="l"/>
            <a:r>
              <a:rPr sz="2800" b="1">
                <a:solidFill>
                  <a:srgbClr val="071F65"/>
                </a:solidFill>
                <a:latin typeface="微软雅黑"/>
              </a:rPr>
              <a:t>PART  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3-0  系统架构总览</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10</a:t>
            </a:r>
          </a:p>
        </p:txBody>
      </p:sp>
      <p:sp>
        <p:nvSpPr>
          <p:cNvPr id="7" name="Rectangle 6"/>
          <p:cNvSpPr/>
          <p:nvPr/>
        </p:nvSpPr>
        <p:spPr>
          <a:xfrm>
            <a:off x="320040" y="1188720"/>
            <a:ext cx="274320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88720"/>
            <a:ext cx="2743200" cy="6858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207008"/>
            <a:ext cx="2560320" cy="658368"/>
          </a:xfrm>
          <a:prstGeom prst="rect">
            <a:avLst/>
          </a:prstGeom>
          <a:noFill/>
        </p:spPr>
        <p:txBody>
          <a:bodyPr wrap="square">
            <a:spAutoFit/>
          </a:bodyPr>
          <a:lstStyle/>
          <a:p>
            <a:pPr algn="ctr"/>
            <a:r>
              <a:rPr sz="1700" b="1">
                <a:solidFill>
                  <a:srgbClr val="FFFFFF"/>
                </a:solidFill>
                <a:latin typeface="微软雅黑"/>
              </a:rPr>
              <a:t>Layer 1
知识底座层</a:t>
            </a:r>
          </a:p>
        </p:txBody>
      </p:sp>
      <p:sp>
        <p:nvSpPr>
          <p:cNvPr id="10" name="TextBox 9"/>
          <p:cNvSpPr txBox="1"/>
          <p:nvPr/>
        </p:nvSpPr>
        <p:spPr>
          <a:xfrm>
            <a:off x="457200" y="2011680"/>
            <a:ext cx="2468880" cy="3931920"/>
          </a:xfrm>
          <a:prstGeom prst="rect">
            <a:avLst/>
          </a:prstGeom>
          <a:noFill/>
        </p:spPr>
        <p:txBody>
          <a:bodyPr wrap="square">
            <a:spAutoFit/>
          </a:bodyPr>
          <a:lstStyle/>
          <a:p>
            <a:pPr algn="ctr"/>
            <a:r>
              <a:rPr sz="1600" b="0">
                <a:solidFill>
                  <a:srgbClr val="202020"/>
                </a:solidFill>
                <a:latin typeface="微软雅黑"/>
              </a:rPr>
              <a:t>文档库
节点表
图谱关系</a:t>
            </a:r>
          </a:p>
        </p:txBody>
      </p:sp>
      <p:sp>
        <p:nvSpPr>
          <p:cNvPr id="11" name="Rectangle 10"/>
          <p:cNvSpPr/>
          <p:nvPr/>
        </p:nvSpPr>
        <p:spPr>
          <a:xfrm>
            <a:off x="3081528" y="2926080"/>
            <a:ext cx="457200" cy="5486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2816352"/>
            <a:ext cx="137160" cy="274320"/>
          </a:xfrm>
          <a:prstGeom prst="round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188720"/>
            <a:ext cx="274320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188720"/>
            <a:ext cx="2743200" cy="6858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207008"/>
            <a:ext cx="2560320" cy="658368"/>
          </a:xfrm>
          <a:prstGeom prst="rect">
            <a:avLst/>
          </a:prstGeom>
          <a:noFill/>
        </p:spPr>
        <p:txBody>
          <a:bodyPr wrap="square">
            <a:spAutoFit/>
          </a:bodyPr>
          <a:lstStyle/>
          <a:p>
            <a:pPr algn="ctr"/>
            <a:r>
              <a:rPr sz="1700" b="1">
                <a:solidFill>
                  <a:srgbClr val="FFFFFF"/>
                </a:solidFill>
                <a:latin typeface="微软雅黑"/>
              </a:rPr>
              <a:t>Layer 2
任务路由层</a:t>
            </a:r>
          </a:p>
        </p:txBody>
      </p:sp>
      <p:sp>
        <p:nvSpPr>
          <p:cNvPr id="16" name="TextBox 15"/>
          <p:cNvSpPr txBox="1"/>
          <p:nvPr/>
        </p:nvSpPr>
        <p:spPr>
          <a:xfrm>
            <a:off x="3383280" y="2011680"/>
            <a:ext cx="2468880" cy="3931920"/>
          </a:xfrm>
          <a:prstGeom prst="rect">
            <a:avLst/>
          </a:prstGeom>
          <a:noFill/>
        </p:spPr>
        <p:txBody>
          <a:bodyPr wrap="square">
            <a:spAutoFit/>
          </a:bodyPr>
          <a:lstStyle/>
          <a:p>
            <a:pPr algn="ctr"/>
            <a:r>
              <a:rPr sz="1600" b="0">
                <a:solidFill>
                  <a:srgbClr val="202020"/>
                </a:solidFill>
                <a:latin typeface="微软雅黑"/>
              </a:rPr>
              <a:t>意图识别
任务分类
动态分配</a:t>
            </a:r>
          </a:p>
        </p:txBody>
      </p:sp>
      <p:sp>
        <p:nvSpPr>
          <p:cNvPr id="17" name="Rectangle 16"/>
          <p:cNvSpPr/>
          <p:nvPr/>
        </p:nvSpPr>
        <p:spPr>
          <a:xfrm>
            <a:off x="6007608" y="2926080"/>
            <a:ext cx="457200" cy="5486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5080" y="2816352"/>
            <a:ext cx="137160" cy="274320"/>
          </a:xfrm>
          <a:prstGeom prst="round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188720"/>
            <a:ext cx="274320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1188720"/>
            <a:ext cx="2743200"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207008"/>
            <a:ext cx="2560320" cy="658368"/>
          </a:xfrm>
          <a:prstGeom prst="rect">
            <a:avLst/>
          </a:prstGeom>
          <a:noFill/>
        </p:spPr>
        <p:txBody>
          <a:bodyPr wrap="square">
            <a:spAutoFit/>
          </a:bodyPr>
          <a:lstStyle/>
          <a:p>
            <a:pPr algn="ctr"/>
            <a:r>
              <a:rPr sz="1700" b="1">
                <a:solidFill>
                  <a:srgbClr val="FFFFFF"/>
                </a:solidFill>
                <a:latin typeface="微软雅黑"/>
              </a:rPr>
              <a:t>Layer 3
多策略检索层</a:t>
            </a:r>
          </a:p>
        </p:txBody>
      </p:sp>
      <p:sp>
        <p:nvSpPr>
          <p:cNvPr id="22" name="TextBox 21"/>
          <p:cNvSpPr txBox="1"/>
          <p:nvPr/>
        </p:nvSpPr>
        <p:spPr>
          <a:xfrm>
            <a:off x="6309360" y="2011680"/>
            <a:ext cx="2468880" cy="3931920"/>
          </a:xfrm>
          <a:prstGeom prst="rect">
            <a:avLst/>
          </a:prstGeom>
          <a:noFill/>
        </p:spPr>
        <p:txBody>
          <a:bodyPr wrap="square">
            <a:spAutoFit/>
          </a:bodyPr>
          <a:lstStyle/>
          <a:p>
            <a:pPr algn="ctr"/>
            <a:r>
              <a:rPr sz="1600" b="0">
                <a:solidFill>
                  <a:srgbClr val="202020"/>
                </a:solidFill>
                <a:latin typeface="微软雅黑"/>
              </a:rPr>
              <a:t>Hybrid RAG
GraphRAG
Planner Agent</a:t>
            </a:r>
          </a:p>
        </p:txBody>
      </p:sp>
      <p:sp>
        <p:nvSpPr>
          <p:cNvPr id="23" name="Rectangle 22"/>
          <p:cNvSpPr/>
          <p:nvPr/>
        </p:nvSpPr>
        <p:spPr>
          <a:xfrm>
            <a:off x="8933688" y="2926080"/>
            <a:ext cx="457200" cy="5486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81160" y="2816352"/>
            <a:ext cx="137160" cy="274320"/>
          </a:xfrm>
          <a:prstGeom prst="round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280" y="1188720"/>
            <a:ext cx="274320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1188720"/>
            <a:ext cx="2743200" cy="6858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20" y="1207008"/>
            <a:ext cx="2560320" cy="658368"/>
          </a:xfrm>
          <a:prstGeom prst="rect">
            <a:avLst/>
          </a:prstGeom>
          <a:noFill/>
        </p:spPr>
        <p:txBody>
          <a:bodyPr wrap="square">
            <a:spAutoFit/>
          </a:bodyPr>
          <a:lstStyle/>
          <a:p>
            <a:pPr algn="ctr"/>
            <a:r>
              <a:rPr sz="1700" b="1">
                <a:solidFill>
                  <a:srgbClr val="FFFFFF"/>
                </a:solidFill>
                <a:latin typeface="微软雅黑"/>
              </a:rPr>
              <a:t>Layer 4
验证输出层</a:t>
            </a:r>
          </a:p>
        </p:txBody>
      </p:sp>
      <p:sp>
        <p:nvSpPr>
          <p:cNvPr id="28" name="TextBox 27"/>
          <p:cNvSpPr txBox="1"/>
          <p:nvPr/>
        </p:nvSpPr>
        <p:spPr>
          <a:xfrm>
            <a:off x="9235440" y="2011680"/>
            <a:ext cx="2468880" cy="3931920"/>
          </a:xfrm>
          <a:prstGeom prst="rect">
            <a:avLst/>
          </a:prstGeom>
          <a:noFill/>
        </p:spPr>
        <p:txBody>
          <a:bodyPr wrap="square">
            <a:spAutoFit/>
          </a:bodyPr>
          <a:lstStyle/>
          <a:p>
            <a:pPr algn="ctr"/>
            <a:r>
              <a:rPr sz="1600" b="0">
                <a:solidFill>
                  <a:srgbClr val="202020"/>
                </a:solidFill>
                <a:latin typeface="微软雅黑"/>
              </a:rPr>
              <a:t>证据充分性
时效性检查
约束满足验证</a:t>
            </a:r>
          </a:p>
        </p:txBody>
      </p:sp>
      <p:sp>
        <p:nvSpPr>
          <p:cNvPr id="29" name="Rectangle 28"/>
          <p:cNvSpPr/>
          <p:nvPr/>
        </p:nvSpPr>
        <p:spPr>
          <a:xfrm>
            <a:off x="320040" y="6355080"/>
            <a:ext cx="11521440" cy="36576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373368"/>
            <a:ext cx="11155680" cy="320040"/>
          </a:xfrm>
          <a:prstGeom prst="rect">
            <a:avLst/>
          </a:prstGeom>
          <a:noFill/>
        </p:spPr>
        <p:txBody>
          <a:bodyPr wrap="square">
            <a:spAutoFit/>
          </a:bodyPr>
          <a:lstStyle/>
          <a:p>
            <a:pPr algn="ctr"/>
            <a:r>
              <a:rPr sz="1400" b="0">
                <a:solidFill>
                  <a:srgbClr val="071F65"/>
                </a:solidFill>
                <a:latin typeface="微软雅黑"/>
              </a:rPr>
              <a:t>实验场景：洱海生态廊道    |    三类任务：事实规则查询 · 空间关系推理 · 约束路线规划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3-1  场景化知识底座构建</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11</a:t>
            </a:r>
          </a:p>
        </p:txBody>
      </p:sp>
      <p:sp>
        <p:nvSpPr>
          <p:cNvPr id="7" name="Rectangle 6"/>
          <p:cNvSpPr/>
          <p:nvPr/>
        </p:nvSpPr>
        <p:spPr>
          <a:xfrm>
            <a:off x="274320" y="1188720"/>
            <a:ext cx="5303520"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07008"/>
            <a:ext cx="5120640" cy="457200"/>
          </a:xfrm>
          <a:prstGeom prst="rect">
            <a:avLst/>
          </a:prstGeom>
          <a:noFill/>
        </p:spPr>
        <p:txBody>
          <a:bodyPr wrap="square">
            <a:spAutoFit/>
          </a:bodyPr>
          <a:lstStyle/>
          <a:p>
            <a:pPr algn="l"/>
            <a:r>
              <a:rPr sz="2000" b="1">
                <a:solidFill>
                  <a:srgbClr val="FFFFFF"/>
                </a:solidFill>
                <a:latin typeface="微软雅黑"/>
              </a:rPr>
              <a:t>● 针对问题</a:t>
            </a:r>
          </a:p>
        </p:txBody>
      </p:sp>
      <p:sp>
        <p:nvSpPr>
          <p:cNvPr id="9" name="Rectangle 8"/>
          <p:cNvSpPr/>
          <p:nvPr/>
        </p:nvSpPr>
        <p:spPr>
          <a:xfrm>
            <a:off x="274320" y="1691640"/>
            <a:ext cx="5303520" cy="4480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828800"/>
            <a:ext cx="5029200" cy="4114800"/>
          </a:xfrm>
          <a:prstGeom prst="rect">
            <a:avLst/>
          </a:prstGeom>
          <a:noFill/>
        </p:spPr>
        <p:txBody>
          <a:bodyPr wrap="square">
            <a:spAutoFit/>
          </a:bodyPr>
          <a:lstStyle/>
          <a:p>
            <a:pPr algn="l"/>
            <a:r>
              <a:rPr sz="1600" b="0">
                <a:solidFill>
                  <a:srgbClr val="202020"/>
                </a:solidFill>
                <a:latin typeface="微软雅黑"/>
              </a:rPr>
              <a:t>景区公开资料散乱异构，缺乏统一知识表示形式
• 文本资料：介绍手册、规则公告（非结构化）
• 空间数据：景区节点坐标、设施信息（半结构化）
• 关系数据：景点关联、路径限制（结构化）
→ 三类数据格式差异导致统一检索困难</a:t>
            </a:r>
          </a:p>
        </p:txBody>
      </p:sp>
      <p:sp>
        <p:nvSpPr>
          <p:cNvPr id="11" name="Rectangle 10"/>
          <p:cNvSpPr/>
          <p:nvPr/>
        </p:nvSpPr>
        <p:spPr>
          <a:xfrm>
            <a:off x="5943600" y="1188720"/>
            <a:ext cx="5943600" cy="50292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7008"/>
            <a:ext cx="5760720" cy="457200"/>
          </a:xfrm>
          <a:prstGeom prst="rect">
            <a:avLst/>
          </a:prstGeom>
          <a:noFill/>
        </p:spPr>
        <p:txBody>
          <a:bodyPr wrap="square">
            <a:spAutoFit/>
          </a:bodyPr>
          <a:lstStyle/>
          <a:p>
            <a:pPr algn="l"/>
            <a:r>
              <a:rPr sz="2000" b="1">
                <a:solidFill>
                  <a:srgbClr val="FFFFFF"/>
                </a:solidFill>
                <a:latin typeface="微软雅黑"/>
              </a:rPr>
              <a:t>● 解决方案</a:t>
            </a:r>
          </a:p>
        </p:txBody>
      </p:sp>
      <p:sp>
        <p:nvSpPr>
          <p:cNvPr id="13" name="Rectangle 12"/>
          <p:cNvSpPr/>
          <p:nvPr/>
        </p:nvSpPr>
        <p:spPr>
          <a:xfrm>
            <a:off x="5943600" y="1783080"/>
            <a:ext cx="594360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0" y="1783080"/>
            <a:ext cx="109728" cy="146304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8" y="1874520"/>
            <a:ext cx="5577840" cy="411480"/>
          </a:xfrm>
          <a:prstGeom prst="rect">
            <a:avLst/>
          </a:prstGeom>
          <a:noFill/>
        </p:spPr>
        <p:txBody>
          <a:bodyPr wrap="square">
            <a:spAutoFit/>
          </a:bodyPr>
          <a:lstStyle/>
          <a:p>
            <a:pPr algn="l"/>
            <a:r>
              <a:rPr sz="1700" b="1">
                <a:solidFill>
                  <a:srgbClr val="071F65"/>
                </a:solidFill>
                <a:latin typeface="微软雅黑"/>
              </a:rPr>
              <a:t>文档库（非结构化）</a:t>
            </a:r>
          </a:p>
        </p:txBody>
      </p:sp>
      <p:sp>
        <p:nvSpPr>
          <p:cNvPr id="16" name="TextBox 15"/>
          <p:cNvSpPr txBox="1"/>
          <p:nvPr/>
        </p:nvSpPr>
        <p:spPr>
          <a:xfrm>
            <a:off x="6144768" y="2313432"/>
            <a:ext cx="5577840" cy="822960"/>
          </a:xfrm>
          <a:prstGeom prst="rect">
            <a:avLst/>
          </a:prstGeom>
          <a:noFill/>
        </p:spPr>
        <p:txBody>
          <a:bodyPr wrap="square">
            <a:spAutoFit/>
          </a:bodyPr>
          <a:lstStyle/>
          <a:p>
            <a:pPr algn="l"/>
            <a:r>
              <a:rPr sz="1400" b="0">
                <a:solidFill>
                  <a:srgbClr val="202020"/>
                </a:solidFill>
                <a:latin typeface="微软雅黑"/>
              </a:rPr>
              <a:t>整理洱海生态廊道公开资料、规则性文档，建立向量索引，支持 Hybrid RAG 检索</a:t>
            </a:r>
          </a:p>
        </p:txBody>
      </p:sp>
      <p:sp>
        <p:nvSpPr>
          <p:cNvPr id="17" name="Rectangle 16"/>
          <p:cNvSpPr/>
          <p:nvPr/>
        </p:nvSpPr>
        <p:spPr>
          <a:xfrm>
            <a:off x="5943600" y="3383280"/>
            <a:ext cx="594360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3383280"/>
            <a:ext cx="109728" cy="146304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3474720"/>
            <a:ext cx="5577840" cy="411480"/>
          </a:xfrm>
          <a:prstGeom prst="rect">
            <a:avLst/>
          </a:prstGeom>
          <a:noFill/>
        </p:spPr>
        <p:txBody>
          <a:bodyPr wrap="square">
            <a:spAutoFit/>
          </a:bodyPr>
          <a:lstStyle/>
          <a:p>
            <a:pPr algn="l"/>
            <a:r>
              <a:rPr sz="1700" b="1">
                <a:solidFill>
                  <a:srgbClr val="348B9F"/>
                </a:solidFill>
                <a:latin typeface="微软雅黑"/>
              </a:rPr>
              <a:t>结构化节点表</a:t>
            </a:r>
          </a:p>
        </p:txBody>
      </p:sp>
      <p:sp>
        <p:nvSpPr>
          <p:cNvPr id="20" name="TextBox 19"/>
          <p:cNvSpPr txBox="1"/>
          <p:nvPr/>
        </p:nvSpPr>
        <p:spPr>
          <a:xfrm>
            <a:off x="6144768" y="3913632"/>
            <a:ext cx="5577840" cy="822960"/>
          </a:xfrm>
          <a:prstGeom prst="rect">
            <a:avLst/>
          </a:prstGeom>
          <a:noFill/>
        </p:spPr>
        <p:txBody>
          <a:bodyPr wrap="square">
            <a:spAutoFit/>
          </a:bodyPr>
          <a:lstStyle/>
          <a:p>
            <a:pPr algn="l"/>
            <a:r>
              <a:rPr sz="1400" b="0">
                <a:solidFill>
                  <a:srgbClr val="202020"/>
                </a:solidFill>
                <a:latin typeface="微软雅黑"/>
              </a:rPr>
              <a:t>提取空间节点属性（坐标、设施类型、容量限制），构建关系型数据库</a:t>
            </a:r>
          </a:p>
        </p:txBody>
      </p:sp>
      <p:sp>
        <p:nvSpPr>
          <p:cNvPr id="21" name="Rectangle 20"/>
          <p:cNvSpPr/>
          <p:nvPr/>
        </p:nvSpPr>
        <p:spPr>
          <a:xfrm>
            <a:off x="5943600" y="4983480"/>
            <a:ext cx="594360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0" y="4983480"/>
            <a:ext cx="109728" cy="1463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5074920"/>
            <a:ext cx="5577840" cy="411480"/>
          </a:xfrm>
          <a:prstGeom prst="rect">
            <a:avLst/>
          </a:prstGeom>
          <a:noFill/>
        </p:spPr>
        <p:txBody>
          <a:bodyPr wrap="square">
            <a:spAutoFit/>
          </a:bodyPr>
          <a:lstStyle/>
          <a:p>
            <a:pPr algn="l"/>
            <a:r>
              <a:rPr sz="1700" b="1">
                <a:solidFill>
                  <a:srgbClr val="C00000"/>
                </a:solidFill>
                <a:latin typeface="微软雅黑"/>
              </a:rPr>
              <a:t>图谱关系表</a:t>
            </a:r>
          </a:p>
        </p:txBody>
      </p:sp>
      <p:sp>
        <p:nvSpPr>
          <p:cNvPr id="24" name="TextBox 23"/>
          <p:cNvSpPr txBox="1"/>
          <p:nvPr/>
        </p:nvSpPr>
        <p:spPr>
          <a:xfrm>
            <a:off x="6144768" y="5513832"/>
            <a:ext cx="5577840" cy="822960"/>
          </a:xfrm>
          <a:prstGeom prst="rect">
            <a:avLst/>
          </a:prstGeom>
          <a:noFill/>
        </p:spPr>
        <p:txBody>
          <a:bodyPr wrap="square">
            <a:spAutoFit/>
          </a:bodyPr>
          <a:lstStyle/>
          <a:p>
            <a:pPr algn="l"/>
            <a:r>
              <a:rPr sz="1400" b="0">
                <a:solidFill>
                  <a:srgbClr val="202020"/>
                </a:solidFill>
                <a:latin typeface="微软雅黑"/>
              </a:rPr>
              <a:t>抽取景点间路径关系、相邻关系、约束关系，构建知识图谱，支持 GraphRAG</a:t>
            </a:r>
          </a:p>
        </p:txBody>
      </p:sp>
      <p:sp>
        <p:nvSpPr>
          <p:cNvPr id="25" name="TextBox 24"/>
          <p:cNvSpPr txBox="1"/>
          <p:nvPr/>
        </p:nvSpPr>
        <p:spPr>
          <a:xfrm>
            <a:off x="5394960" y="3200400"/>
            <a:ext cx="640080" cy="548640"/>
          </a:xfrm>
          <a:prstGeom prst="rect">
            <a:avLst/>
          </a:prstGeom>
          <a:noFill/>
        </p:spPr>
        <p:txBody>
          <a:bodyPr wrap="square">
            <a:spAutoFit/>
          </a:bodyPr>
          <a:lstStyle/>
          <a:p>
            <a:pPr algn="l"/>
            <a:r>
              <a:rPr sz="3200" b="1">
                <a:solidFill>
                  <a:srgbClr val="348B9F"/>
                </a:solidFill>
                <a:latin typeface="微软雅黑"/>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3-2  任务路由层设计</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12</a:t>
            </a:r>
          </a:p>
        </p:txBody>
      </p:sp>
      <p:sp>
        <p:nvSpPr>
          <p:cNvPr id="7" name="Rectangle 6"/>
          <p:cNvSpPr/>
          <p:nvPr/>
        </p:nvSpPr>
        <p:spPr>
          <a:xfrm>
            <a:off x="365760" y="2560320"/>
            <a:ext cx="2286000" cy="100584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06040"/>
            <a:ext cx="2103120" cy="914400"/>
          </a:xfrm>
          <a:prstGeom prst="rect">
            <a:avLst/>
          </a:prstGeom>
          <a:noFill/>
        </p:spPr>
        <p:txBody>
          <a:bodyPr wrap="square">
            <a:spAutoFit/>
          </a:bodyPr>
          <a:lstStyle/>
          <a:p>
            <a:pPr algn="ctr"/>
            <a:r>
              <a:rPr sz="1600" b="1">
                <a:solidFill>
                  <a:srgbClr val="FFFFFF"/>
                </a:solidFill>
                <a:latin typeface="微软雅黑"/>
              </a:rPr>
              <a:t>用户自然语言
输入请求</a:t>
            </a:r>
          </a:p>
        </p:txBody>
      </p:sp>
      <p:sp>
        <p:nvSpPr>
          <p:cNvPr id="9" name="Rectangle 8"/>
          <p:cNvSpPr/>
          <p:nvPr/>
        </p:nvSpPr>
        <p:spPr>
          <a:xfrm>
            <a:off x="2651760" y="2971800"/>
            <a:ext cx="914400" cy="54864"/>
          </a:xfrm>
          <a:prstGeom prst="rect">
            <a:avLst/>
          </a:prstGeom>
          <a:solidFill>
            <a:srgbClr val="2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60" y="2423160"/>
            <a:ext cx="2560320" cy="128016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2514600"/>
            <a:ext cx="2377440" cy="1097280"/>
          </a:xfrm>
          <a:prstGeom prst="rect">
            <a:avLst/>
          </a:prstGeom>
          <a:noFill/>
        </p:spPr>
        <p:txBody>
          <a:bodyPr wrap="square">
            <a:spAutoFit/>
          </a:bodyPr>
          <a:lstStyle/>
          <a:p>
            <a:pPr algn="ctr"/>
            <a:r>
              <a:rPr sz="1800" b="1">
                <a:solidFill>
                  <a:srgbClr val="FFFFFF"/>
                </a:solidFill>
                <a:latin typeface="微软雅黑"/>
              </a:rPr>
              <a:t>任务路由层
Task Router</a:t>
            </a:r>
          </a:p>
        </p:txBody>
      </p:sp>
      <p:sp>
        <p:nvSpPr>
          <p:cNvPr id="12" name="Rectangle 11"/>
          <p:cNvSpPr/>
          <p:nvPr/>
        </p:nvSpPr>
        <p:spPr>
          <a:xfrm>
            <a:off x="6126480" y="1691640"/>
            <a:ext cx="1097280" cy="4572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1188720"/>
            <a:ext cx="2560320" cy="100584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1280160"/>
            <a:ext cx="2377440" cy="822960"/>
          </a:xfrm>
          <a:prstGeom prst="rect">
            <a:avLst/>
          </a:prstGeom>
          <a:noFill/>
        </p:spPr>
        <p:txBody>
          <a:bodyPr wrap="square">
            <a:spAutoFit/>
          </a:bodyPr>
          <a:lstStyle/>
          <a:p>
            <a:pPr algn="ctr"/>
            <a:r>
              <a:rPr sz="1700" b="1">
                <a:solidFill>
                  <a:srgbClr val="FFFFFF"/>
                </a:solidFill>
                <a:latin typeface="微软雅黑"/>
              </a:rPr>
              <a:t>事实规则查询</a:t>
            </a:r>
          </a:p>
        </p:txBody>
      </p:sp>
      <p:sp>
        <p:nvSpPr>
          <p:cNvPr id="15" name="Rectangle 14"/>
          <p:cNvSpPr/>
          <p:nvPr/>
        </p:nvSpPr>
        <p:spPr>
          <a:xfrm>
            <a:off x="10058400" y="1188720"/>
            <a:ext cx="274320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058400" y="1188720"/>
            <a:ext cx="91440" cy="100584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0" y="1234440"/>
            <a:ext cx="2468880" cy="914400"/>
          </a:xfrm>
          <a:prstGeom prst="rect">
            <a:avLst/>
          </a:prstGeom>
          <a:noFill/>
        </p:spPr>
        <p:txBody>
          <a:bodyPr wrap="square">
            <a:spAutoFit/>
          </a:bodyPr>
          <a:lstStyle/>
          <a:p>
            <a:pPr algn="l"/>
            <a:r>
              <a:rPr sz="1500" b="0">
                <a:solidFill>
                  <a:srgbClr val="202020"/>
                </a:solidFill>
                <a:latin typeface="微软雅黑"/>
              </a:rPr>
              <a:t>Hybrid RAG
关键词+向量混合检索</a:t>
            </a:r>
          </a:p>
        </p:txBody>
      </p:sp>
      <p:sp>
        <p:nvSpPr>
          <p:cNvPr id="18" name="Rectangle 17"/>
          <p:cNvSpPr/>
          <p:nvPr/>
        </p:nvSpPr>
        <p:spPr>
          <a:xfrm>
            <a:off x="6126480" y="3703320"/>
            <a:ext cx="1097280" cy="4572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23760" y="3200400"/>
            <a:ext cx="2560320" cy="100584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291840"/>
            <a:ext cx="2377440" cy="822960"/>
          </a:xfrm>
          <a:prstGeom prst="rect">
            <a:avLst/>
          </a:prstGeom>
          <a:noFill/>
        </p:spPr>
        <p:txBody>
          <a:bodyPr wrap="square">
            <a:spAutoFit/>
          </a:bodyPr>
          <a:lstStyle/>
          <a:p>
            <a:pPr algn="ctr"/>
            <a:r>
              <a:rPr sz="1700" b="1">
                <a:solidFill>
                  <a:srgbClr val="FFFFFF"/>
                </a:solidFill>
                <a:latin typeface="微软雅黑"/>
              </a:rPr>
              <a:t>空间关系推理</a:t>
            </a:r>
          </a:p>
        </p:txBody>
      </p:sp>
      <p:sp>
        <p:nvSpPr>
          <p:cNvPr id="21" name="Rectangle 20"/>
          <p:cNvSpPr/>
          <p:nvPr/>
        </p:nvSpPr>
        <p:spPr>
          <a:xfrm>
            <a:off x="10058400" y="3200400"/>
            <a:ext cx="274320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058400" y="3200400"/>
            <a:ext cx="91440" cy="100584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0" y="3246120"/>
            <a:ext cx="2468880" cy="914400"/>
          </a:xfrm>
          <a:prstGeom prst="rect">
            <a:avLst/>
          </a:prstGeom>
          <a:noFill/>
        </p:spPr>
        <p:txBody>
          <a:bodyPr wrap="square">
            <a:spAutoFit/>
          </a:bodyPr>
          <a:lstStyle/>
          <a:p>
            <a:pPr algn="l"/>
            <a:r>
              <a:rPr sz="1500" b="0">
                <a:solidFill>
                  <a:srgbClr val="202020"/>
                </a:solidFill>
                <a:latin typeface="微软雅黑"/>
              </a:rPr>
              <a:t>GraphRAG
知识图谱路径检索</a:t>
            </a:r>
          </a:p>
        </p:txBody>
      </p:sp>
      <p:sp>
        <p:nvSpPr>
          <p:cNvPr id="24" name="Rectangle 23"/>
          <p:cNvSpPr/>
          <p:nvPr/>
        </p:nvSpPr>
        <p:spPr>
          <a:xfrm>
            <a:off x="6126480" y="5715000"/>
            <a:ext cx="1097280" cy="45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60" y="5212080"/>
            <a:ext cx="2560320" cy="10058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5303520"/>
            <a:ext cx="2377440" cy="822960"/>
          </a:xfrm>
          <a:prstGeom prst="rect">
            <a:avLst/>
          </a:prstGeom>
          <a:noFill/>
        </p:spPr>
        <p:txBody>
          <a:bodyPr wrap="square">
            <a:spAutoFit/>
          </a:bodyPr>
          <a:lstStyle/>
          <a:p>
            <a:pPr algn="ctr"/>
            <a:r>
              <a:rPr sz="1700" b="1">
                <a:solidFill>
                  <a:srgbClr val="FFFFFF"/>
                </a:solidFill>
                <a:latin typeface="微软雅黑"/>
              </a:rPr>
              <a:t>约束路线规划</a:t>
            </a:r>
          </a:p>
        </p:txBody>
      </p:sp>
      <p:sp>
        <p:nvSpPr>
          <p:cNvPr id="27" name="Rectangle 26"/>
          <p:cNvSpPr/>
          <p:nvPr/>
        </p:nvSpPr>
        <p:spPr>
          <a:xfrm>
            <a:off x="10058400" y="5212080"/>
            <a:ext cx="274320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58400" y="5212080"/>
            <a:ext cx="91440" cy="10058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0" y="5257800"/>
            <a:ext cx="2468880" cy="914400"/>
          </a:xfrm>
          <a:prstGeom prst="rect">
            <a:avLst/>
          </a:prstGeom>
          <a:noFill/>
        </p:spPr>
        <p:txBody>
          <a:bodyPr wrap="square">
            <a:spAutoFit/>
          </a:bodyPr>
          <a:lstStyle/>
          <a:p>
            <a:pPr algn="l"/>
            <a:r>
              <a:rPr sz="1500" b="0">
                <a:solidFill>
                  <a:srgbClr val="202020"/>
                </a:solidFill>
                <a:latin typeface="微软雅黑"/>
              </a:rPr>
              <a:t>Planner Agent
约束满足规划</a:t>
            </a:r>
          </a:p>
        </p:txBody>
      </p:sp>
      <p:sp>
        <p:nvSpPr>
          <p:cNvPr id="30" name="TextBox 29"/>
          <p:cNvSpPr txBox="1"/>
          <p:nvPr/>
        </p:nvSpPr>
        <p:spPr>
          <a:xfrm>
            <a:off x="365760" y="6446520"/>
            <a:ext cx="11430000" cy="320040"/>
          </a:xfrm>
          <a:prstGeom prst="rect">
            <a:avLst/>
          </a:prstGeom>
          <a:noFill/>
        </p:spPr>
        <p:txBody>
          <a:bodyPr wrap="square">
            <a:spAutoFit/>
          </a:bodyPr>
          <a:lstStyle/>
          <a:p>
            <a:pPr algn="l"/>
            <a:r>
              <a:rPr sz="1100" b="0">
                <a:solidFill>
                  <a:srgbClr val="AAAAAA"/>
                </a:solidFill>
                <a:latin typeface="微软雅黑"/>
              </a:rPr>
              <a:t>引用：[8] ReAct  [9] Self-RAG  [6] RAG-Critic  ——  路由准确率是核心评估指标之一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3-3  多策略检索模块与验证层</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13</a:t>
            </a:r>
          </a:p>
        </p:txBody>
      </p:sp>
      <p:sp>
        <p:nvSpPr>
          <p:cNvPr id="7" name="Rectangle 6"/>
          <p:cNvSpPr/>
          <p:nvPr/>
        </p:nvSpPr>
        <p:spPr>
          <a:xfrm>
            <a:off x="320040" y="1188720"/>
            <a:ext cx="365760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88720"/>
            <a:ext cx="3657600" cy="54864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207008"/>
            <a:ext cx="3474720" cy="502920"/>
          </a:xfrm>
          <a:prstGeom prst="rect">
            <a:avLst/>
          </a:prstGeom>
          <a:noFill/>
        </p:spPr>
        <p:txBody>
          <a:bodyPr wrap="square">
            <a:spAutoFit/>
          </a:bodyPr>
          <a:lstStyle/>
          <a:p>
            <a:pPr algn="ctr"/>
            <a:r>
              <a:rPr sz="2000" b="1">
                <a:solidFill>
                  <a:srgbClr val="FFFFFF"/>
                </a:solidFill>
                <a:latin typeface="微软雅黑"/>
              </a:rPr>
              <a:t>Hybrid RAG</a:t>
            </a:r>
          </a:p>
        </p:txBody>
      </p:sp>
      <p:sp>
        <p:nvSpPr>
          <p:cNvPr id="10" name="Rectangle 9"/>
          <p:cNvSpPr/>
          <p:nvPr/>
        </p:nvSpPr>
        <p:spPr>
          <a:xfrm>
            <a:off x="594360" y="1783080"/>
            <a:ext cx="3108960" cy="4114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01368"/>
            <a:ext cx="3017520" cy="384048"/>
          </a:xfrm>
          <a:prstGeom prst="rect">
            <a:avLst/>
          </a:prstGeom>
          <a:noFill/>
        </p:spPr>
        <p:txBody>
          <a:bodyPr wrap="square">
            <a:spAutoFit/>
          </a:bodyPr>
          <a:lstStyle/>
          <a:p>
            <a:pPr algn="ctr"/>
            <a:r>
              <a:rPr sz="1400" b="0">
                <a:solidFill>
                  <a:srgbClr val="202020"/>
                </a:solidFill>
                <a:latin typeface="微软雅黑"/>
              </a:rPr>
              <a:t>适用：事实规则查询</a:t>
            </a:r>
          </a:p>
        </p:txBody>
      </p:sp>
      <p:sp>
        <p:nvSpPr>
          <p:cNvPr id="12" name="Rectangle 11"/>
          <p:cNvSpPr/>
          <p:nvPr/>
        </p:nvSpPr>
        <p:spPr>
          <a:xfrm>
            <a:off x="502920" y="2331720"/>
            <a:ext cx="54864" cy="36576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04288"/>
            <a:ext cx="3200400" cy="457200"/>
          </a:xfrm>
          <a:prstGeom prst="rect">
            <a:avLst/>
          </a:prstGeom>
          <a:noFill/>
        </p:spPr>
        <p:txBody>
          <a:bodyPr wrap="square">
            <a:spAutoFit/>
          </a:bodyPr>
          <a:lstStyle/>
          <a:p>
            <a:pPr algn="l"/>
            <a:r>
              <a:rPr sz="1500" b="0">
                <a:solidFill>
                  <a:srgbClr val="202020"/>
                </a:solidFill>
                <a:latin typeface="微软雅黑"/>
              </a:rPr>
              <a:t>BM25 关键词检索</a:t>
            </a:r>
          </a:p>
        </p:txBody>
      </p:sp>
      <p:sp>
        <p:nvSpPr>
          <p:cNvPr id="14" name="Rectangle 13"/>
          <p:cNvSpPr/>
          <p:nvPr/>
        </p:nvSpPr>
        <p:spPr>
          <a:xfrm>
            <a:off x="502920" y="3108960"/>
            <a:ext cx="54864" cy="36576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81528"/>
            <a:ext cx="3200400" cy="457200"/>
          </a:xfrm>
          <a:prstGeom prst="rect">
            <a:avLst/>
          </a:prstGeom>
          <a:noFill/>
        </p:spPr>
        <p:txBody>
          <a:bodyPr wrap="square">
            <a:spAutoFit/>
          </a:bodyPr>
          <a:lstStyle/>
          <a:p>
            <a:pPr algn="l"/>
            <a:r>
              <a:rPr sz="1500" b="0">
                <a:solidFill>
                  <a:srgbClr val="202020"/>
                </a:solidFill>
                <a:latin typeface="微软雅黑"/>
              </a:rPr>
              <a:t>稠密向量检索 [1][2]</a:t>
            </a:r>
          </a:p>
        </p:txBody>
      </p:sp>
      <p:sp>
        <p:nvSpPr>
          <p:cNvPr id="16" name="Rectangle 15"/>
          <p:cNvSpPr/>
          <p:nvPr/>
        </p:nvSpPr>
        <p:spPr>
          <a:xfrm>
            <a:off x="502920" y="3886200"/>
            <a:ext cx="54864" cy="36576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58768"/>
            <a:ext cx="3200400" cy="457200"/>
          </a:xfrm>
          <a:prstGeom prst="rect">
            <a:avLst/>
          </a:prstGeom>
          <a:noFill/>
        </p:spPr>
        <p:txBody>
          <a:bodyPr wrap="square">
            <a:spAutoFit/>
          </a:bodyPr>
          <a:lstStyle/>
          <a:p>
            <a:pPr algn="l"/>
            <a:r>
              <a:rPr sz="1500" b="0">
                <a:solidFill>
                  <a:srgbClr val="202020"/>
                </a:solidFill>
                <a:latin typeface="微软雅黑"/>
              </a:rPr>
              <a:t>分数融合排序</a:t>
            </a:r>
          </a:p>
        </p:txBody>
      </p:sp>
      <p:sp>
        <p:nvSpPr>
          <p:cNvPr id="18" name="Rectangle 17"/>
          <p:cNvSpPr/>
          <p:nvPr/>
        </p:nvSpPr>
        <p:spPr>
          <a:xfrm>
            <a:off x="502920" y="4663440"/>
            <a:ext cx="54864" cy="36576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636008"/>
            <a:ext cx="3200400" cy="457200"/>
          </a:xfrm>
          <a:prstGeom prst="rect">
            <a:avLst/>
          </a:prstGeom>
          <a:noFill/>
        </p:spPr>
        <p:txBody>
          <a:bodyPr wrap="square">
            <a:spAutoFit/>
          </a:bodyPr>
          <a:lstStyle/>
          <a:p>
            <a:pPr algn="l"/>
            <a:r>
              <a:rPr sz="1500" b="0">
                <a:solidFill>
                  <a:srgbClr val="202020"/>
                </a:solidFill>
                <a:latin typeface="微软雅黑"/>
              </a:rPr>
              <a:t>上下文窗口截断 [5]</a:t>
            </a:r>
          </a:p>
        </p:txBody>
      </p:sp>
      <p:sp>
        <p:nvSpPr>
          <p:cNvPr id="20" name="Rectangle 19"/>
          <p:cNvSpPr/>
          <p:nvPr/>
        </p:nvSpPr>
        <p:spPr>
          <a:xfrm>
            <a:off x="4270248" y="1188720"/>
            <a:ext cx="365760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1188720"/>
            <a:ext cx="3657600" cy="54864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8" y="1207008"/>
            <a:ext cx="3474720" cy="502920"/>
          </a:xfrm>
          <a:prstGeom prst="rect">
            <a:avLst/>
          </a:prstGeom>
          <a:noFill/>
        </p:spPr>
        <p:txBody>
          <a:bodyPr wrap="square">
            <a:spAutoFit/>
          </a:bodyPr>
          <a:lstStyle/>
          <a:p>
            <a:pPr algn="ctr"/>
            <a:r>
              <a:rPr sz="2000" b="1">
                <a:solidFill>
                  <a:srgbClr val="FFFFFF"/>
                </a:solidFill>
                <a:latin typeface="微软雅黑"/>
              </a:rPr>
              <a:t>GraphRAG</a:t>
            </a:r>
          </a:p>
        </p:txBody>
      </p:sp>
      <p:sp>
        <p:nvSpPr>
          <p:cNvPr id="23" name="Rectangle 22"/>
          <p:cNvSpPr/>
          <p:nvPr/>
        </p:nvSpPr>
        <p:spPr>
          <a:xfrm>
            <a:off x="4544568" y="1783080"/>
            <a:ext cx="3108960" cy="4114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0288" y="1801368"/>
            <a:ext cx="3017520" cy="384048"/>
          </a:xfrm>
          <a:prstGeom prst="rect">
            <a:avLst/>
          </a:prstGeom>
          <a:noFill/>
        </p:spPr>
        <p:txBody>
          <a:bodyPr wrap="square">
            <a:spAutoFit/>
          </a:bodyPr>
          <a:lstStyle/>
          <a:p>
            <a:pPr algn="ctr"/>
            <a:r>
              <a:rPr sz="1400" b="0">
                <a:solidFill>
                  <a:srgbClr val="202020"/>
                </a:solidFill>
                <a:latin typeface="微软雅黑"/>
              </a:rPr>
              <a:t>适用：空间关系推理</a:t>
            </a:r>
          </a:p>
        </p:txBody>
      </p:sp>
      <p:sp>
        <p:nvSpPr>
          <p:cNvPr id="25" name="Rectangle 24"/>
          <p:cNvSpPr/>
          <p:nvPr/>
        </p:nvSpPr>
        <p:spPr>
          <a:xfrm>
            <a:off x="4453128" y="2331720"/>
            <a:ext cx="54864" cy="36576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0288" y="2304288"/>
            <a:ext cx="3200400" cy="457200"/>
          </a:xfrm>
          <a:prstGeom prst="rect">
            <a:avLst/>
          </a:prstGeom>
          <a:noFill/>
        </p:spPr>
        <p:txBody>
          <a:bodyPr wrap="square">
            <a:spAutoFit/>
          </a:bodyPr>
          <a:lstStyle/>
          <a:p>
            <a:pPr algn="l"/>
            <a:r>
              <a:rPr sz="1500" b="0">
                <a:solidFill>
                  <a:srgbClr val="202020"/>
                </a:solidFill>
                <a:latin typeface="微软雅黑"/>
              </a:rPr>
              <a:t>知识图谱三元组检索</a:t>
            </a:r>
          </a:p>
        </p:txBody>
      </p:sp>
      <p:sp>
        <p:nvSpPr>
          <p:cNvPr id="27" name="Rectangle 26"/>
          <p:cNvSpPr/>
          <p:nvPr/>
        </p:nvSpPr>
        <p:spPr>
          <a:xfrm>
            <a:off x="4453128" y="3108960"/>
            <a:ext cx="54864" cy="36576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0288" y="3081528"/>
            <a:ext cx="3200400" cy="457200"/>
          </a:xfrm>
          <a:prstGeom prst="rect">
            <a:avLst/>
          </a:prstGeom>
          <a:noFill/>
        </p:spPr>
        <p:txBody>
          <a:bodyPr wrap="square">
            <a:spAutoFit/>
          </a:bodyPr>
          <a:lstStyle/>
          <a:p>
            <a:pPr algn="l"/>
            <a:r>
              <a:rPr sz="1500" b="0">
                <a:solidFill>
                  <a:srgbClr val="202020"/>
                </a:solidFill>
                <a:latin typeface="微软雅黑"/>
              </a:rPr>
              <a:t>路径多跳推理</a:t>
            </a:r>
          </a:p>
        </p:txBody>
      </p:sp>
      <p:sp>
        <p:nvSpPr>
          <p:cNvPr id="29" name="Rectangle 28"/>
          <p:cNvSpPr/>
          <p:nvPr/>
        </p:nvSpPr>
        <p:spPr>
          <a:xfrm>
            <a:off x="4453128" y="3886200"/>
            <a:ext cx="54864" cy="36576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0288" y="3858768"/>
            <a:ext cx="3200400" cy="457200"/>
          </a:xfrm>
          <a:prstGeom prst="rect">
            <a:avLst/>
          </a:prstGeom>
          <a:noFill/>
        </p:spPr>
        <p:txBody>
          <a:bodyPr wrap="square">
            <a:spAutoFit/>
          </a:bodyPr>
          <a:lstStyle/>
          <a:p>
            <a:pPr algn="l"/>
            <a:r>
              <a:rPr sz="1500" b="0">
                <a:solidFill>
                  <a:srgbClr val="202020"/>
                </a:solidFill>
                <a:latin typeface="微软雅黑"/>
              </a:rPr>
              <a:t>子图抽取</a:t>
            </a:r>
          </a:p>
        </p:txBody>
      </p:sp>
      <p:sp>
        <p:nvSpPr>
          <p:cNvPr id="31" name="Rectangle 30"/>
          <p:cNvSpPr/>
          <p:nvPr/>
        </p:nvSpPr>
        <p:spPr>
          <a:xfrm>
            <a:off x="4453128" y="4663440"/>
            <a:ext cx="54864" cy="36576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0288" y="4636008"/>
            <a:ext cx="3200400" cy="457200"/>
          </a:xfrm>
          <a:prstGeom prst="rect">
            <a:avLst/>
          </a:prstGeom>
          <a:noFill/>
        </p:spPr>
        <p:txBody>
          <a:bodyPr wrap="square">
            <a:spAutoFit/>
          </a:bodyPr>
          <a:lstStyle/>
          <a:p>
            <a:pPr algn="l"/>
            <a:r>
              <a:rPr sz="1500" b="0">
                <a:solidFill>
                  <a:srgbClr val="202020"/>
                </a:solidFill>
                <a:latin typeface="微软雅黑"/>
              </a:rPr>
              <a:t>关系置信度排序</a:t>
            </a:r>
          </a:p>
        </p:txBody>
      </p:sp>
      <p:sp>
        <p:nvSpPr>
          <p:cNvPr id="33" name="Rectangle 32"/>
          <p:cNvSpPr/>
          <p:nvPr/>
        </p:nvSpPr>
        <p:spPr>
          <a:xfrm>
            <a:off x="8220456" y="1188720"/>
            <a:ext cx="365760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0456" y="1188720"/>
            <a:ext cx="3657600" cy="5486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11896" y="1207008"/>
            <a:ext cx="3474720" cy="502920"/>
          </a:xfrm>
          <a:prstGeom prst="rect">
            <a:avLst/>
          </a:prstGeom>
          <a:noFill/>
        </p:spPr>
        <p:txBody>
          <a:bodyPr wrap="square">
            <a:spAutoFit/>
          </a:bodyPr>
          <a:lstStyle/>
          <a:p>
            <a:pPr algn="ctr"/>
            <a:r>
              <a:rPr sz="2000" b="1">
                <a:solidFill>
                  <a:srgbClr val="FFFFFF"/>
                </a:solidFill>
                <a:latin typeface="微软雅黑"/>
              </a:rPr>
              <a:t>Planner Agent</a:t>
            </a:r>
          </a:p>
        </p:txBody>
      </p:sp>
      <p:sp>
        <p:nvSpPr>
          <p:cNvPr id="36" name="Rectangle 35"/>
          <p:cNvSpPr/>
          <p:nvPr/>
        </p:nvSpPr>
        <p:spPr>
          <a:xfrm>
            <a:off x="8494776" y="1783080"/>
            <a:ext cx="3108960" cy="4114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0496" y="1801368"/>
            <a:ext cx="3017520" cy="384048"/>
          </a:xfrm>
          <a:prstGeom prst="rect">
            <a:avLst/>
          </a:prstGeom>
          <a:noFill/>
        </p:spPr>
        <p:txBody>
          <a:bodyPr wrap="square">
            <a:spAutoFit/>
          </a:bodyPr>
          <a:lstStyle/>
          <a:p>
            <a:pPr algn="ctr"/>
            <a:r>
              <a:rPr sz="1400" b="0">
                <a:solidFill>
                  <a:srgbClr val="202020"/>
                </a:solidFill>
                <a:latin typeface="微软雅黑"/>
              </a:rPr>
              <a:t>适用：约束路线规划</a:t>
            </a:r>
          </a:p>
        </p:txBody>
      </p:sp>
      <p:sp>
        <p:nvSpPr>
          <p:cNvPr id="38" name="Rectangle 37"/>
          <p:cNvSpPr/>
          <p:nvPr/>
        </p:nvSpPr>
        <p:spPr>
          <a:xfrm>
            <a:off x="8403336" y="2331720"/>
            <a:ext cx="54864"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0496" y="2304288"/>
            <a:ext cx="3200400" cy="457200"/>
          </a:xfrm>
          <a:prstGeom prst="rect">
            <a:avLst/>
          </a:prstGeom>
          <a:noFill/>
        </p:spPr>
        <p:txBody>
          <a:bodyPr wrap="square">
            <a:spAutoFit/>
          </a:bodyPr>
          <a:lstStyle/>
          <a:p>
            <a:pPr algn="l"/>
            <a:r>
              <a:rPr sz="1500" b="0">
                <a:solidFill>
                  <a:srgbClr val="202020"/>
                </a:solidFill>
                <a:latin typeface="微软雅黑"/>
              </a:rPr>
              <a:t>约束条件解析</a:t>
            </a:r>
          </a:p>
        </p:txBody>
      </p:sp>
      <p:sp>
        <p:nvSpPr>
          <p:cNvPr id="40" name="Rectangle 39"/>
          <p:cNvSpPr/>
          <p:nvPr/>
        </p:nvSpPr>
        <p:spPr>
          <a:xfrm>
            <a:off x="8403336" y="3108960"/>
            <a:ext cx="54864"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0496" y="3081528"/>
            <a:ext cx="3200400" cy="457200"/>
          </a:xfrm>
          <a:prstGeom prst="rect">
            <a:avLst/>
          </a:prstGeom>
          <a:noFill/>
        </p:spPr>
        <p:txBody>
          <a:bodyPr wrap="square">
            <a:spAutoFit/>
          </a:bodyPr>
          <a:lstStyle/>
          <a:p>
            <a:pPr algn="l"/>
            <a:r>
              <a:rPr sz="1500" b="0">
                <a:solidFill>
                  <a:srgbClr val="202020"/>
                </a:solidFill>
                <a:latin typeface="微软雅黑"/>
              </a:rPr>
              <a:t>图上最优路径搜索</a:t>
            </a:r>
          </a:p>
        </p:txBody>
      </p:sp>
      <p:sp>
        <p:nvSpPr>
          <p:cNvPr id="42" name="Rectangle 41"/>
          <p:cNvSpPr/>
          <p:nvPr/>
        </p:nvSpPr>
        <p:spPr>
          <a:xfrm>
            <a:off x="8403336" y="3886200"/>
            <a:ext cx="54864"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40496" y="3858768"/>
            <a:ext cx="3200400" cy="457200"/>
          </a:xfrm>
          <a:prstGeom prst="rect">
            <a:avLst/>
          </a:prstGeom>
          <a:noFill/>
        </p:spPr>
        <p:txBody>
          <a:bodyPr wrap="square">
            <a:spAutoFit/>
          </a:bodyPr>
          <a:lstStyle/>
          <a:p>
            <a:pPr algn="l"/>
            <a:r>
              <a:rPr sz="1500" b="0">
                <a:solidFill>
                  <a:srgbClr val="202020"/>
                </a:solidFill>
                <a:latin typeface="微软雅黑"/>
              </a:rPr>
              <a:t>ReAct 推理循环 [8]</a:t>
            </a:r>
          </a:p>
        </p:txBody>
      </p:sp>
      <p:sp>
        <p:nvSpPr>
          <p:cNvPr id="44" name="Rectangle 43"/>
          <p:cNvSpPr/>
          <p:nvPr/>
        </p:nvSpPr>
        <p:spPr>
          <a:xfrm>
            <a:off x="8403336" y="4663440"/>
            <a:ext cx="54864"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40496" y="4636008"/>
            <a:ext cx="3200400" cy="457200"/>
          </a:xfrm>
          <a:prstGeom prst="rect">
            <a:avLst/>
          </a:prstGeom>
          <a:noFill/>
        </p:spPr>
        <p:txBody>
          <a:bodyPr wrap="square">
            <a:spAutoFit/>
          </a:bodyPr>
          <a:lstStyle/>
          <a:p>
            <a:pPr algn="l"/>
            <a:r>
              <a:rPr sz="1500" b="0">
                <a:solidFill>
                  <a:srgbClr val="202020"/>
                </a:solidFill>
                <a:latin typeface="微软雅黑"/>
              </a:rPr>
              <a:t>规划可行性验证</a:t>
            </a:r>
          </a:p>
        </p:txBody>
      </p:sp>
      <p:sp>
        <p:nvSpPr>
          <p:cNvPr id="46" name="Rectangle 45"/>
          <p:cNvSpPr/>
          <p:nvPr/>
        </p:nvSpPr>
        <p:spPr>
          <a:xfrm>
            <a:off x="320040" y="6035040"/>
            <a:ext cx="1152144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080760"/>
            <a:ext cx="11155680" cy="548640"/>
          </a:xfrm>
          <a:prstGeom prst="rect">
            <a:avLst/>
          </a:prstGeom>
          <a:noFill/>
        </p:spPr>
        <p:txBody>
          <a:bodyPr wrap="square">
            <a:spAutoFit/>
          </a:bodyPr>
          <a:lstStyle/>
          <a:p>
            <a:pPr algn="ctr"/>
            <a:r>
              <a:rPr sz="1700" b="1">
                <a:solidFill>
                  <a:srgbClr val="FFFFFF"/>
                </a:solidFill>
                <a:latin typeface="微软雅黑"/>
              </a:rPr>
              <a:t>验证层  ▶  证据充分性检查  |  信息时效性验证  |  约束满足性检查  →  降低幻觉风险</a:t>
            </a:r>
          </a:p>
        </p:txBody>
      </p:sp>
      <p:sp>
        <p:nvSpPr>
          <p:cNvPr id="48" name="TextBox 47"/>
          <p:cNvSpPr txBox="1"/>
          <p:nvPr/>
        </p:nvSpPr>
        <p:spPr>
          <a:xfrm>
            <a:off x="274320" y="6492240"/>
            <a:ext cx="11430000" cy="274320"/>
          </a:xfrm>
          <a:prstGeom prst="rect">
            <a:avLst/>
          </a:prstGeom>
          <a:noFill/>
        </p:spPr>
        <p:txBody>
          <a:bodyPr wrap="square">
            <a:spAutoFit/>
          </a:bodyPr>
          <a:lstStyle/>
          <a:p>
            <a:pPr algn="l"/>
            <a:r>
              <a:rPr sz="1100" b="0">
                <a:solidFill>
                  <a:srgbClr val="AAAAAA"/>
                </a:solidFill>
                <a:latin typeface="微软雅黑"/>
              </a:rPr>
              <a:t>引用：[1][2][5][8][11]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0" y="2194560"/>
            <a:ext cx="2286000" cy="914400"/>
          </a:xfrm>
          <a:prstGeom prst="rect">
            <a:avLst/>
          </a:prstGeom>
          <a:noFill/>
        </p:spPr>
        <p:txBody>
          <a:bodyPr wrap="square">
            <a:spAutoFit/>
          </a:bodyPr>
          <a:lstStyle/>
          <a:p>
            <a:pPr algn="l"/>
            <a:r>
              <a:rPr sz="2200" b="1">
                <a:solidFill>
                  <a:srgbClr val="FFFFFF"/>
                </a:solidFill>
                <a:latin typeface="微软雅黑"/>
              </a:rPr>
              <a:t>Part 4</a:t>
            </a:r>
          </a:p>
        </p:txBody>
      </p:sp>
      <p:sp>
        <p:nvSpPr>
          <p:cNvPr id="5" name="TextBox 4"/>
          <p:cNvSpPr txBox="1"/>
          <p:nvPr/>
        </p:nvSpPr>
        <p:spPr>
          <a:xfrm>
            <a:off x="5303520" y="1280160"/>
            <a:ext cx="2286000" cy="914400"/>
          </a:xfrm>
          <a:prstGeom prst="rect">
            <a:avLst/>
          </a:prstGeom>
          <a:noFill/>
        </p:spPr>
        <p:txBody>
          <a:bodyPr wrap="square">
            <a:spAutoFit/>
          </a:bodyPr>
          <a:lstStyle/>
          <a:p>
            <a:pPr algn="l"/>
            <a:r>
              <a:rPr sz="7200" b="1">
                <a:solidFill>
                  <a:srgbClr val="FFFFFF"/>
                </a:solidFill>
                <a:latin typeface="微软雅黑"/>
              </a:rPr>
              <a:t>04</a:t>
            </a:r>
          </a:p>
        </p:txBody>
      </p:sp>
      <p:sp>
        <p:nvSpPr>
          <p:cNvPr id="6" name="TextBox 5"/>
          <p:cNvSpPr txBox="1"/>
          <p:nvPr/>
        </p:nvSpPr>
        <p:spPr>
          <a:xfrm>
            <a:off x="7772400" y="2743200"/>
            <a:ext cx="4114800" cy="1097280"/>
          </a:xfrm>
          <a:prstGeom prst="rect">
            <a:avLst/>
          </a:prstGeom>
          <a:noFill/>
        </p:spPr>
        <p:txBody>
          <a:bodyPr wrap="square">
            <a:spAutoFit/>
          </a:bodyPr>
          <a:lstStyle/>
          <a:p>
            <a:pPr algn="l"/>
            <a:r>
              <a:rPr sz="4000" b="1">
                <a:solidFill>
                  <a:srgbClr val="FFFFFF"/>
                </a:solidFill>
                <a:latin typeface="微软雅黑"/>
              </a:rPr>
              <a:t>工作计划与预期成果</a:t>
            </a:r>
          </a:p>
        </p:txBody>
      </p:sp>
      <p:sp>
        <p:nvSpPr>
          <p:cNvPr id="7" name="Rectangle 6"/>
          <p:cNvSpPr/>
          <p:nvPr/>
        </p:nvSpPr>
        <p:spPr>
          <a:xfrm>
            <a:off x="914400" y="3200400"/>
            <a:ext cx="3474720" cy="54864"/>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657600" cy="731520"/>
          </a:xfrm>
          <a:prstGeom prst="rect">
            <a:avLst/>
          </a:prstGeom>
          <a:noFill/>
        </p:spPr>
        <p:txBody>
          <a:bodyPr wrap="square">
            <a:spAutoFit/>
          </a:bodyPr>
          <a:lstStyle/>
          <a:p>
            <a:pPr algn="l"/>
            <a:r>
              <a:rPr sz="2800" b="1">
                <a:solidFill>
                  <a:srgbClr val="071F65"/>
                </a:solidFill>
                <a:latin typeface="微软雅黑"/>
              </a:rPr>
              <a:t>PART  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4  工作计划与预期成果</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15</a:t>
            </a:r>
          </a:p>
        </p:txBody>
      </p:sp>
      <p:sp>
        <p:nvSpPr>
          <p:cNvPr id="7" name="TextBox 6"/>
          <p:cNvSpPr txBox="1"/>
          <p:nvPr/>
        </p:nvSpPr>
        <p:spPr>
          <a:xfrm>
            <a:off x="320040" y="1188720"/>
            <a:ext cx="4572000" cy="411480"/>
          </a:xfrm>
          <a:prstGeom prst="rect">
            <a:avLst/>
          </a:prstGeom>
          <a:noFill/>
        </p:spPr>
        <p:txBody>
          <a:bodyPr wrap="square">
            <a:spAutoFit/>
          </a:bodyPr>
          <a:lstStyle/>
          <a:p>
            <a:pPr algn="l"/>
            <a:r>
              <a:rPr sz="2000" b="1">
                <a:solidFill>
                  <a:srgbClr val="071F65"/>
                </a:solidFill>
                <a:latin typeface="微软雅黑"/>
              </a:rPr>
              <a:t>工作计划</a:t>
            </a:r>
          </a:p>
        </p:txBody>
      </p:sp>
      <p:sp>
        <p:nvSpPr>
          <p:cNvPr id="8" name="Rectangle 7"/>
          <p:cNvSpPr/>
          <p:nvPr/>
        </p:nvSpPr>
        <p:spPr>
          <a:xfrm>
            <a:off x="320040" y="1600200"/>
            <a:ext cx="36576" cy="411480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2880" y="1737360"/>
            <a:ext cx="274320" cy="27432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64208"/>
            <a:ext cx="1371600" cy="411480"/>
          </a:xfrm>
          <a:prstGeom prst="rect">
            <a:avLst/>
          </a:prstGeom>
          <a:noFill/>
        </p:spPr>
        <p:txBody>
          <a:bodyPr wrap="square">
            <a:spAutoFit/>
          </a:bodyPr>
          <a:lstStyle/>
          <a:p>
            <a:pPr algn="l"/>
            <a:r>
              <a:rPr sz="1300" b="1">
                <a:solidFill>
                  <a:srgbClr val="071F65"/>
                </a:solidFill>
                <a:latin typeface="微软雅黑"/>
              </a:rPr>
              <a:t>2026.7–8</a:t>
            </a:r>
          </a:p>
        </p:txBody>
      </p:sp>
      <p:sp>
        <p:nvSpPr>
          <p:cNvPr id="11" name="TextBox 10"/>
          <p:cNvSpPr txBox="1"/>
          <p:nvPr/>
        </p:nvSpPr>
        <p:spPr>
          <a:xfrm>
            <a:off x="1920240" y="1664208"/>
            <a:ext cx="4114800" cy="411480"/>
          </a:xfrm>
          <a:prstGeom prst="rect">
            <a:avLst/>
          </a:prstGeom>
          <a:noFill/>
        </p:spPr>
        <p:txBody>
          <a:bodyPr wrap="square">
            <a:spAutoFit/>
          </a:bodyPr>
          <a:lstStyle/>
          <a:p>
            <a:pPr algn="l"/>
            <a:r>
              <a:rPr sz="1500" b="0">
                <a:solidFill>
                  <a:srgbClr val="202020"/>
                </a:solidFill>
                <a:latin typeface="微软雅黑"/>
              </a:rPr>
              <a:t>数据收集与知识底座构建</a:t>
            </a:r>
          </a:p>
        </p:txBody>
      </p:sp>
      <p:sp>
        <p:nvSpPr>
          <p:cNvPr id="12" name="Oval 11"/>
          <p:cNvSpPr/>
          <p:nvPr/>
        </p:nvSpPr>
        <p:spPr>
          <a:xfrm>
            <a:off x="182880" y="2542032"/>
            <a:ext cx="274320" cy="27432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468880"/>
            <a:ext cx="1371600" cy="411480"/>
          </a:xfrm>
          <a:prstGeom prst="rect">
            <a:avLst/>
          </a:prstGeom>
          <a:noFill/>
        </p:spPr>
        <p:txBody>
          <a:bodyPr wrap="square">
            <a:spAutoFit/>
          </a:bodyPr>
          <a:lstStyle/>
          <a:p>
            <a:pPr algn="l"/>
            <a:r>
              <a:rPr sz="1300" b="1">
                <a:solidFill>
                  <a:srgbClr val="348B9F"/>
                </a:solidFill>
                <a:latin typeface="微软雅黑"/>
              </a:rPr>
              <a:t>2026.9–10</a:t>
            </a:r>
          </a:p>
        </p:txBody>
      </p:sp>
      <p:sp>
        <p:nvSpPr>
          <p:cNvPr id="14" name="TextBox 13"/>
          <p:cNvSpPr txBox="1"/>
          <p:nvPr/>
        </p:nvSpPr>
        <p:spPr>
          <a:xfrm>
            <a:off x="1920240" y="2468880"/>
            <a:ext cx="4114800" cy="411480"/>
          </a:xfrm>
          <a:prstGeom prst="rect">
            <a:avLst/>
          </a:prstGeom>
          <a:noFill/>
        </p:spPr>
        <p:txBody>
          <a:bodyPr wrap="square">
            <a:spAutoFit/>
          </a:bodyPr>
          <a:lstStyle/>
          <a:p>
            <a:pPr algn="l"/>
            <a:r>
              <a:rPr sz="1500" b="0">
                <a:solidFill>
                  <a:srgbClr val="202020"/>
                </a:solidFill>
                <a:latin typeface="微软雅黑"/>
              </a:rPr>
              <a:t>任务路由层与 Hybrid RAG 实现</a:t>
            </a:r>
          </a:p>
        </p:txBody>
      </p:sp>
      <p:sp>
        <p:nvSpPr>
          <p:cNvPr id="15" name="Oval 14"/>
          <p:cNvSpPr/>
          <p:nvPr/>
        </p:nvSpPr>
        <p:spPr>
          <a:xfrm>
            <a:off x="182880" y="3346704"/>
            <a:ext cx="274320" cy="27432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73552"/>
            <a:ext cx="1371600" cy="411480"/>
          </a:xfrm>
          <a:prstGeom prst="rect">
            <a:avLst/>
          </a:prstGeom>
          <a:noFill/>
        </p:spPr>
        <p:txBody>
          <a:bodyPr wrap="square">
            <a:spAutoFit/>
          </a:bodyPr>
          <a:lstStyle/>
          <a:p>
            <a:pPr algn="l"/>
            <a:r>
              <a:rPr sz="1300" b="1">
                <a:solidFill>
                  <a:srgbClr val="C00000"/>
                </a:solidFill>
                <a:latin typeface="微软雅黑"/>
              </a:rPr>
              <a:t>2026.11–12</a:t>
            </a:r>
          </a:p>
        </p:txBody>
      </p:sp>
      <p:sp>
        <p:nvSpPr>
          <p:cNvPr id="17" name="TextBox 16"/>
          <p:cNvSpPr txBox="1"/>
          <p:nvPr/>
        </p:nvSpPr>
        <p:spPr>
          <a:xfrm>
            <a:off x="1920240" y="3273552"/>
            <a:ext cx="4114800" cy="411480"/>
          </a:xfrm>
          <a:prstGeom prst="rect">
            <a:avLst/>
          </a:prstGeom>
          <a:noFill/>
        </p:spPr>
        <p:txBody>
          <a:bodyPr wrap="square">
            <a:spAutoFit/>
          </a:bodyPr>
          <a:lstStyle/>
          <a:p>
            <a:pPr algn="l"/>
            <a:r>
              <a:rPr sz="1500" b="0">
                <a:solidFill>
                  <a:srgbClr val="202020"/>
                </a:solidFill>
                <a:latin typeface="微软雅黑"/>
              </a:rPr>
              <a:t>GraphRAG 图谱检索模块开发</a:t>
            </a:r>
          </a:p>
        </p:txBody>
      </p:sp>
      <p:sp>
        <p:nvSpPr>
          <p:cNvPr id="18" name="Oval 17"/>
          <p:cNvSpPr/>
          <p:nvPr/>
        </p:nvSpPr>
        <p:spPr>
          <a:xfrm>
            <a:off x="182880" y="4151376"/>
            <a:ext cx="274320" cy="274320"/>
          </a:xfrm>
          <a:prstGeom prst="ellipse">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078224"/>
            <a:ext cx="1371600" cy="411480"/>
          </a:xfrm>
          <a:prstGeom prst="rect">
            <a:avLst/>
          </a:prstGeom>
          <a:noFill/>
        </p:spPr>
        <p:txBody>
          <a:bodyPr wrap="square">
            <a:spAutoFit/>
          </a:bodyPr>
          <a:lstStyle/>
          <a:p>
            <a:pPr algn="l"/>
            <a:r>
              <a:rPr sz="1300" b="1">
                <a:solidFill>
                  <a:srgbClr val="071F65"/>
                </a:solidFill>
                <a:latin typeface="微软雅黑"/>
              </a:rPr>
              <a:t>2027.1–2</a:t>
            </a:r>
          </a:p>
        </p:txBody>
      </p:sp>
      <p:sp>
        <p:nvSpPr>
          <p:cNvPr id="20" name="TextBox 19"/>
          <p:cNvSpPr txBox="1"/>
          <p:nvPr/>
        </p:nvSpPr>
        <p:spPr>
          <a:xfrm>
            <a:off x="1920240" y="4078224"/>
            <a:ext cx="4114800" cy="411480"/>
          </a:xfrm>
          <a:prstGeom prst="rect">
            <a:avLst/>
          </a:prstGeom>
          <a:noFill/>
        </p:spPr>
        <p:txBody>
          <a:bodyPr wrap="square">
            <a:spAutoFit/>
          </a:bodyPr>
          <a:lstStyle/>
          <a:p>
            <a:pPr algn="l"/>
            <a:r>
              <a:rPr sz="1500" b="0">
                <a:solidFill>
                  <a:srgbClr val="202020"/>
                </a:solidFill>
                <a:latin typeface="微软雅黑"/>
              </a:rPr>
              <a:t>验证层设计与系统集成联调</a:t>
            </a:r>
          </a:p>
        </p:txBody>
      </p:sp>
      <p:sp>
        <p:nvSpPr>
          <p:cNvPr id="21" name="Oval 20"/>
          <p:cNvSpPr/>
          <p:nvPr/>
        </p:nvSpPr>
        <p:spPr>
          <a:xfrm>
            <a:off x="182880" y="4956048"/>
            <a:ext cx="274320" cy="274320"/>
          </a:xfrm>
          <a:prstGeom prst="ellipse">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882896"/>
            <a:ext cx="1371600" cy="411480"/>
          </a:xfrm>
          <a:prstGeom prst="rect">
            <a:avLst/>
          </a:prstGeom>
          <a:noFill/>
        </p:spPr>
        <p:txBody>
          <a:bodyPr wrap="square">
            <a:spAutoFit/>
          </a:bodyPr>
          <a:lstStyle/>
          <a:p>
            <a:pPr algn="l"/>
            <a:r>
              <a:rPr sz="1300" b="1">
                <a:solidFill>
                  <a:srgbClr val="348B9F"/>
                </a:solidFill>
                <a:latin typeface="微软雅黑"/>
              </a:rPr>
              <a:t>2027.3–6</a:t>
            </a:r>
          </a:p>
        </p:txBody>
      </p:sp>
      <p:sp>
        <p:nvSpPr>
          <p:cNvPr id="23" name="TextBox 22"/>
          <p:cNvSpPr txBox="1"/>
          <p:nvPr/>
        </p:nvSpPr>
        <p:spPr>
          <a:xfrm>
            <a:off x="1920240" y="4882896"/>
            <a:ext cx="4114800" cy="411480"/>
          </a:xfrm>
          <a:prstGeom prst="rect">
            <a:avLst/>
          </a:prstGeom>
          <a:noFill/>
        </p:spPr>
        <p:txBody>
          <a:bodyPr wrap="square">
            <a:spAutoFit/>
          </a:bodyPr>
          <a:lstStyle/>
          <a:p>
            <a:pPr algn="l"/>
            <a:r>
              <a:rPr sz="1500" b="0">
                <a:solidFill>
                  <a:srgbClr val="202020"/>
                </a:solidFill>
                <a:latin typeface="微软雅黑"/>
              </a:rPr>
              <a:t>对比实验、分析与论文撰写</a:t>
            </a:r>
          </a:p>
        </p:txBody>
      </p:sp>
      <p:sp>
        <p:nvSpPr>
          <p:cNvPr id="24" name="TextBox 23"/>
          <p:cNvSpPr txBox="1"/>
          <p:nvPr/>
        </p:nvSpPr>
        <p:spPr>
          <a:xfrm>
            <a:off x="6400800" y="1188720"/>
            <a:ext cx="5029200" cy="411480"/>
          </a:xfrm>
          <a:prstGeom prst="rect">
            <a:avLst/>
          </a:prstGeom>
          <a:noFill/>
        </p:spPr>
        <p:txBody>
          <a:bodyPr wrap="square">
            <a:spAutoFit/>
          </a:bodyPr>
          <a:lstStyle/>
          <a:p>
            <a:pPr algn="l"/>
            <a:r>
              <a:rPr sz="2000" b="1">
                <a:solidFill>
                  <a:srgbClr val="071F65"/>
                </a:solidFill>
                <a:latin typeface="微软雅黑"/>
              </a:rPr>
              <a:t>预期成果与经费</a:t>
            </a:r>
          </a:p>
        </p:txBody>
      </p:sp>
      <p:sp>
        <p:nvSpPr>
          <p:cNvPr id="25" name="Rectangle 24"/>
          <p:cNvSpPr/>
          <p:nvPr/>
        </p:nvSpPr>
        <p:spPr>
          <a:xfrm>
            <a:off x="6400800" y="1737360"/>
            <a:ext cx="5303520" cy="1417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1737360"/>
            <a:ext cx="91440" cy="1417320"/>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1828800"/>
            <a:ext cx="5029200" cy="411480"/>
          </a:xfrm>
          <a:prstGeom prst="rect">
            <a:avLst/>
          </a:prstGeom>
          <a:noFill/>
        </p:spPr>
        <p:txBody>
          <a:bodyPr wrap="square">
            <a:spAutoFit/>
          </a:bodyPr>
          <a:lstStyle/>
          <a:p>
            <a:pPr algn="l"/>
            <a:r>
              <a:rPr sz="1800" b="1">
                <a:solidFill>
                  <a:srgbClr val="348B9F"/>
                </a:solidFill>
                <a:latin typeface="微软雅黑"/>
              </a:rPr>
              <a:t>📄 学术论文</a:t>
            </a:r>
          </a:p>
        </p:txBody>
      </p:sp>
      <p:sp>
        <p:nvSpPr>
          <p:cNvPr id="28" name="TextBox 27"/>
          <p:cNvSpPr txBox="1"/>
          <p:nvPr/>
        </p:nvSpPr>
        <p:spPr>
          <a:xfrm>
            <a:off x="6583680" y="2286000"/>
            <a:ext cx="5029200" cy="777240"/>
          </a:xfrm>
          <a:prstGeom prst="rect">
            <a:avLst/>
          </a:prstGeom>
          <a:noFill/>
        </p:spPr>
        <p:txBody>
          <a:bodyPr wrap="square">
            <a:spAutoFit/>
          </a:bodyPr>
          <a:lstStyle/>
          <a:p>
            <a:pPr algn="l"/>
            <a:r>
              <a:rPr sz="1400" b="0">
                <a:solidFill>
                  <a:srgbClr val="202020"/>
                </a:solidFill>
                <a:latin typeface="微软雅黑"/>
              </a:rPr>
              <a:t>发表人工智能或自然语言处理领域
学术论文 1 篇（会议/期刊）</a:t>
            </a:r>
          </a:p>
        </p:txBody>
      </p:sp>
      <p:sp>
        <p:nvSpPr>
          <p:cNvPr id="29" name="Rectangle 28"/>
          <p:cNvSpPr/>
          <p:nvPr/>
        </p:nvSpPr>
        <p:spPr>
          <a:xfrm>
            <a:off x="6400800" y="3291839"/>
            <a:ext cx="5303520" cy="1417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3291839"/>
            <a:ext cx="91440" cy="1417320"/>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383279"/>
            <a:ext cx="5029200" cy="411480"/>
          </a:xfrm>
          <a:prstGeom prst="rect">
            <a:avLst/>
          </a:prstGeom>
          <a:noFill/>
        </p:spPr>
        <p:txBody>
          <a:bodyPr wrap="square">
            <a:spAutoFit/>
          </a:bodyPr>
          <a:lstStyle/>
          <a:p>
            <a:pPr algn="l"/>
            <a:r>
              <a:rPr sz="1800" b="1">
                <a:solidFill>
                  <a:srgbClr val="071F65"/>
                </a:solidFill>
                <a:latin typeface="微软雅黑"/>
              </a:rPr>
              <a:t>💻 软件系统</a:t>
            </a:r>
          </a:p>
        </p:txBody>
      </p:sp>
      <p:sp>
        <p:nvSpPr>
          <p:cNvPr id="32" name="TextBox 31"/>
          <p:cNvSpPr txBox="1"/>
          <p:nvPr/>
        </p:nvSpPr>
        <p:spPr>
          <a:xfrm>
            <a:off x="6583680" y="3840479"/>
            <a:ext cx="5029200" cy="777240"/>
          </a:xfrm>
          <a:prstGeom prst="rect">
            <a:avLst/>
          </a:prstGeom>
          <a:noFill/>
        </p:spPr>
        <p:txBody>
          <a:bodyPr wrap="square">
            <a:spAutoFit/>
          </a:bodyPr>
          <a:lstStyle/>
          <a:p>
            <a:pPr algn="l"/>
            <a:r>
              <a:rPr sz="1400" b="0">
                <a:solidFill>
                  <a:srgbClr val="202020"/>
                </a:solidFill>
                <a:latin typeface="微软雅黑"/>
              </a:rPr>
              <a:t>完成面向景区服务的多策略Agentic RAG
系统，含可视化交互界面</a:t>
            </a:r>
          </a:p>
        </p:txBody>
      </p:sp>
      <p:sp>
        <p:nvSpPr>
          <p:cNvPr id="33" name="Rectangle 32"/>
          <p:cNvSpPr/>
          <p:nvPr/>
        </p:nvSpPr>
        <p:spPr>
          <a:xfrm>
            <a:off x="6400800" y="4846320"/>
            <a:ext cx="5303520" cy="1417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0" y="4846320"/>
            <a:ext cx="91440" cy="1417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937760"/>
            <a:ext cx="5029200" cy="411480"/>
          </a:xfrm>
          <a:prstGeom prst="rect">
            <a:avLst/>
          </a:prstGeom>
          <a:noFill/>
        </p:spPr>
        <p:txBody>
          <a:bodyPr wrap="square">
            <a:spAutoFit/>
          </a:bodyPr>
          <a:lstStyle/>
          <a:p>
            <a:pPr algn="l"/>
            <a:r>
              <a:rPr sz="1800" b="1">
                <a:solidFill>
                  <a:srgbClr val="C00000"/>
                </a:solidFill>
                <a:latin typeface="微软雅黑"/>
              </a:rPr>
              <a:t>💰 经费预算</a:t>
            </a:r>
          </a:p>
        </p:txBody>
      </p:sp>
      <p:sp>
        <p:nvSpPr>
          <p:cNvPr id="36" name="TextBox 35"/>
          <p:cNvSpPr txBox="1"/>
          <p:nvPr/>
        </p:nvSpPr>
        <p:spPr>
          <a:xfrm>
            <a:off x="6583680" y="5394960"/>
            <a:ext cx="5029200" cy="777240"/>
          </a:xfrm>
          <a:prstGeom prst="rect">
            <a:avLst/>
          </a:prstGeom>
          <a:noFill/>
        </p:spPr>
        <p:txBody>
          <a:bodyPr wrap="square">
            <a:spAutoFit/>
          </a:bodyPr>
          <a:lstStyle/>
          <a:p>
            <a:pPr algn="l"/>
            <a:r>
              <a:rPr sz="1400" b="0">
                <a:solidFill>
                  <a:srgbClr val="202020"/>
                </a:solidFill>
                <a:latin typeface="微软雅黑"/>
              </a:rPr>
              <a:t>云计算 ¥3000  |  印刷 ¥1000
论文版面费 ¥2000  |  合计 ¥6000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01168"/>
            <a:ext cx="109728" cy="658368"/>
          </a:xfrm>
          <a:prstGeom prst="rect">
            <a:avLst/>
          </a:prstGeom>
          <a:solidFill>
            <a:srgbClr val="34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38328" y="201168"/>
            <a:ext cx="8961120" cy="65836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28600"/>
            <a:ext cx="8778240" cy="594360"/>
          </a:xfrm>
          <a:prstGeom prst="rect">
            <a:avLst/>
          </a:prstGeom>
          <a:noFill/>
        </p:spPr>
        <p:txBody>
          <a:bodyPr wrap="square">
            <a:spAutoFit/>
          </a:bodyPr>
          <a:lstStyle/>
          <a:p>
            <a:pPr algn="l"/>
            <a:r>
              <a:rPr sz="2600" b="1">
                <a:solidFill>
                  <a:srgbClr val="FFFFFF"/>
                </a:solidFill>
                <a:latin typeface="微软雅黑"/>
              </a:rPr>
              <a:t>参考文献</a:t>
            </a:r>
          </a:p>
        </p:txBody>
      </p:sp>
      <p:sp>
        <p:nvSpPr>
          <p:cNvPr id="6" name="TextBox 5"/>
          <p:cNvSpPr txBox="1"/>
          <p:nvPr/>
        </p:nvSpPr>
        <p:spPr>
          <a:xfrm>
            <a:off x="10515600" y="6400800"/>
            <a:ext cx="1371600" cy="365760"/>
          </a:xfrm>
          <a:prstGeom prst="rect">
            <a:avLst/>
          </a:prstGeom>
          <a:noFill/>
        </p:spPr>
        <p:txBody>
          <a:bodyPr wrap="square">
            <a:spAutoFit/>
          </a:bodyPr>
          <a:lstStyle/>
          <a:p>
            <a:pPr algn="r"/>
            <a:r>
              <a:rPr sz="1600" b="0">
                <a:solidFill>
                  <a:srgbClr val="AAAAAA"/>
                </a:solidFill>
                <a:latin typeface="微软雅黑"/>
              </a:rPr>
              <a:t>16</a:t>
            </a:r>
          </a:p>
        </p:txBody>
      </p:sp>
      <p:sp>
        <p:nvSpPr>
          <p:cNvPr id="7" name="Rectangle 6"/>
          <p:cNvSpPr/>
          <p:nvPr/>
        </p:nvSpPr>
        <p:spPr>
          <a:xfrm>
            <a:off x="274320" y="1143000"/>
            <a:ext cx="11521440" cy="384048"/>
          </a:xfrm>
          <a:prstGeom prst="rect">
            <a:avLst/>
          </a:prstGeom>
          <a:solidFill>
            <a:srgbClr val="071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161288"/>
            <a:ext cx="11247120" cy="329184"/>
          </a:xfrm>
          <a:prstGeom prst="rect">
            <a:avLst/>
          </a:prstGeom>
          <a:noFill/>
        </p:spPr>
        <p:txBody>
          <a:bodyPr wrap="square">
            <a:spAutoFit/>
          </a:bodyPr>
          <a:lstStyle/>
          <a:p>
            <a:pPr algn="l"/>
            <a:r>
              <a:rPr sz="1600" b="1">
                <a:solidFill>
                  <a:srgbClr val="FFFFFF"/>
                </a:solidFill>
                <a:latin typeface="微软雅黑"/>
              </a:rPr>
              <a:t>文献列表  （共 12 篇）</a:t>
            </a:r>
          </a:p>
        </p:txBody>
      </p:sp>
      <p:sp>
        <p:nvSpPr>
          <p:cNvPr id="9" name="Rectangle 8"/>
          <p:cNvSpPr/>
          <p:nvPr/>
        </p:nvSpPr>
        <p:spPr>
          <a:xfrm>
            <a:off x="274320" y="15361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563624"/>
            <a:ext cx="11247120" cy="310896"/>
          </a:xfrm>
          <a:prstGeom prst="rect">
            <a:avLst/>
          </a:prstGeom>
          <a:noFill/>
        </p:spPr>
        <p:txBody>
          <a:bodyPr wrap="square">
            <a:spAutoFit/>
          </a:bodyPr>
          <a:lstStyle/>
          <a:p>
            <a:pPr algn="l"/>
            <a:r>
              <a:rPr sz="1300" b="0">
                <a:solidFill>
                  <a:srgbClr val="202020"/>
                </a:solidFill>
                <a:latin typeface="微软雅黑"/>
              </a:rPr>
              <a:t>[1]  Lewis P, et al. Retrieval-Augmented Generation for Knowledge-Intensive NLP Tasks. NeurIPS 2020.</a:t>
            </a:r>
          </a:p>
        </p:txBody>
      </p:sp>
      <p:sp>
        <p:nvSpPr>
          <p:cNvPr id="11" name="Rectangle 10"/>
          <p:cNvSpPr/>
          <p:nvPr/>
        </p:nvSpPr>
        <p:spPr>
          <a:xfrm>
            <a:off x="274320" y="351175027392"/>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351175054824"/>
            <a:ext cx="11247120" cy="310896"/>
          </a:xfrm>
          <a:prstGeom prst="rect">
            <a:avLst/>
          </a:prstGeom>
          <a:noFill/>
        </p:spPr>
        <p:txBody>
          <a:bodyPr wrap="square">
            <a:spAutoFit/>
          </a:bodyPr>
          <a:lstStyle/>
          <a:p>
            <a:pPr algn="l"/>
            <a:r>
              <a:rPr sz="1300" b="0">
                <a:solidFill>
                  <a:srgbClr val="202020"/>
                </a:solidFill>
                <a:latin typeface="微软雅黑"/>
              </a:rPr>
              <a:t>[2]  Gao L, et al. Precise Zero-Shot Dense Retrieval without Relevance Labels (HyDE). ACL 2023.</a:t>
            </a:r>
          </a:p>
        </p:txBody>
      </p:sp>
      <p:sp>
        <p:nvSpPr>
          <p:cNvPr id="13" name="Rectangle 12"/>
          <p:cNvSpPr/>
          <p:nvPr/>
        </p:nvSpPr>
        <p:spPr>
          <a:xfrm>
            <a:off x="274320" y="7023485185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702348546024"/>
            <a:ext cx="11247120" cy="310896"/>
          </a:xfrm>
          <a:prstGeom prst="rect">
            <a:avLst/>
          </a:prstGeom>
          <a:noFill/>
        </p:spPr>
        <p:txBody>
          <a:bodyPr wrap="square">
            <a:spAutoFit/>
          </a:bodyPr>
          <a:lstStyle/>
          <a:p>
            <a:pPr algn="l"/>
            <a:r>
              <a:rPr sz="1300" b="0">
                <a:solidFill>
                  <a:srgbClr val="202020"/>
                </a:solidFill>
                <a:latin typeface="微软雅黑"/>
              </a:rPr>
              <a:t>[3]  Es S, et al. RAGAS: Automated Evaluation of Retrieval Augmented Generation. EACL 2024.</a:t>
            </a:r>
          </a:p>
        </p:txBody>
      </p:sp>
      <p:sp>
        <p:nvSpPr>
          <p:cNvPr id="15" name="Rectangle 14"/>
          <p:cNvSpPr/>
          <p:nvPr/>
        </p:nvSpPr>
        <p:spPr>
          <a:xfrm>
            <a:off x="274320" y="1053522009792"/>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1053522037224"/>
            <a:ext cx="11247120" cy="310896"/>
          </a:xfrm>
          <a:prstGeom prst="rect">
            <a:avLst/>
          </a:prstGeom>
          <a:noFill/>
        </p:spPr>
        <p:txBody>
          <a:bodyPr wrap="square">
            <a:spAutoFit/>
          </a:bodyPr>
          <a:lstStyle/>
          <a:p>
            <a:pPr algn="l"/>
            <a:r>
              <a:rPr sz="1300" b="0">
                <a:solidFill>
                  <a:srgbClr val="202020"/>
                </a:solidFill>
                <a:latin typeface="微软雅黑"/>
              </a:rPr>
              <a:t>[4]  Saad-Falcon J, et al. ARES: An Automated Evaluation Framework for RAG Systems. NAACL 2024.</a:t>
            </a:r>
          </a:p>
        </p:txBody>
      </p:sp>
      <p:sp>
        <p:nvSpPr>
          <p:cNvPr id="17" name="Rectangle 16"/>
          <p:cNvSpPr/>
          <p:nvPr/>
        </p:nvSpPr>
        <p:spPr>
          <a:xfrm>
            <a:off x="274320" y="14046955009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404695528424"/>
            <a:ext cx="11247120" cy="310896"/>
          </a:xfrm>
          <a:prstGeom prst="rect">
            <a:avLst/>
          </a:prstGeom>
          <a:noFill/>
        </p:spPr>
        <p:txBody>
          <a:bodyPr wrap="square">
            <a:spAutoFit/>
          </a:bodyPr>
          <a:lstStyle/>
          <a:p>
            <a:pPr algn="l"/>
            <a:r>
              <a:rPr sz="1300" b="0">
                <a:solidFill>
                  <a:srgbClr val="202020"/>
                </a:solidFill>
                <a:latin typeface="微软雅黑"/>
              </a:rPr>
              <a:t>[5]  Liu N F, et al. Lost in the Middle: How Language Models Use Long Contexts. TACL 2024.</a:t>
            </a:r>
          </a:p>
        </p:txBody>
      </p:sp>
      <p:sp>
        <p:nvSpPr>
          <p:cNvPr id="19" name="Rectangle 18"/>
          <p:cNvSpPr/>
          <p:nvPr/>
        </p:nvSpPr>
        <p:spPr>
          <a:xfrm>
            <a:off x="274320" y="1755868992192"/>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1755869019624"/>
            <a:ext cx="11247120" cy="310896"/>
          </a:xfrm>
          <a:prstGeom prst="rect">
            <a:avLst/>
          </a:prstGeom>
          <a:noFill/>
        </p:spPr>
        <p:txBody>
          <a:bodyPr wrap="square">
            <a:spAutoFit/>
          </a:bodyPr>
          <a:lstStyle/>
          <a:p>
            <a:pPr algn="l"/>
            <a:r>
              <a:rPr sz="1300" b="0">
                <a:solidFill>
                  <a:srgbClr val="202020"/>
                </a:solidFill>
                <a:latin typeface="微软雅黑"/>
              </a:rPr>
              <a:t>[6]  Dong G, et al. RAG-Critic: Critic-Guided Agentic Workflow for RAG. ACL 2025.</a:t>
            </a:r>
          </a:p>
        </p:txBody>
      </p:sp>
      <p:sp>
        <p:nvSpPr>
          <p:cNvPr id="21" name="Rectangle 20"/>
          <p:cNvSpPr/>
          <p:nvPr/>
        </p:nvSpPr>
        <p:spPr>
          <a:xfrm>
            <a:off x="274320" y="21070424833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107042510824"/>
            <a:ext cx="11247120" cy="310896"/>
          </a:xfrm>
          <a:prstGeom prst="rect">
            <a:avLst/>
          </a:prstGeom>
          <a:noFill/>
        </p:spPr>
        <p:txBody>
          <a:bodyPr wrap="square">
            <a:spAutoFit/>
          </a:bodyPr>
          <a:lstStyle/>
          <a:p>
            <a:pPr algn="l"/>
            <a:r>
              <a:rPr sz="1300" b="0">
                <a:solidFill>
                  <a:srgbClr val="202020"/>
                </a:solidFill>
                <a:latin typeface="微软雅黑"/>
              </a:rPr>
              <a:t>[7]  Lee D, et al. Shifting from Ranking to Set Selection for RAG (SETR). ACL 2025.</a:t>
            </a:r>
          </a:p>
        </p:txBody>
      </p:sp>
      <p:sp>
        <p:nvSpPr>
          <p:cNvPr id="23" name="Rectangle 22"/>
          <p:cNvSpPr/>
          <p:nvPr/>
        </p:nvSpPr>
        <p:spPr>
          <a:xfrm>
            <a:off x="274320" y="2458215974592"/>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458216002024"/>
            <a:ext cx="11247120" cy="310896"/>
          </a:xfrm>
          <a:prstGeom prst="rect">
            <a:avLst/>
          </a:prstGeom>
          <a:noFill/>
        </p:spPr>
        <p:txBody>
          <a:bodyPr wrap="square">
            <a:spAutoFit/>
          </a:bodyPr>
          <a:lstStyle/>
          <a:p>
            <a:pPr algn="l"/>
            <a:r>
              <a:rPr sz="1300" b="0">
                <a:solidFill>
                  <a:srgbClr val="202020"/>
                </a:solidFill>
                <a:latin typeface="微软雅黑"/>
              </a:rPr>
              <a:t>[8]  Yao S, et al. ReAct: Synergizing Reasoning and Acting in Language Models. ICLR 2023.</a:t>
            </a:r>
          </a:p>
        </p:txBody>
      </p:sp>
      <p:sp>
        <p:nvSpPr>
          <p:cNvPr id="25" name="Rectangle 24"/>
          <p:cNvSpPr/>
          <p:nvPr/>
        </p:nvSpPr>
        <p:spPr>
          <a:xfrm>
            <a:off x="274320" y="28093894657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2809389493224"/>
            <a:ext cx="11247120" cy="310896"/>
          </a:xfrm>
          <a:prstGeom prst="rect">
            <a:avLst/>
          </a:prstGeom>
          <a:noFill/>
        </p:spPr>
        <p:txBody>
          <a:bodyPr wrap="square">
            <a:spAutoFit/>
          </a:bodyPr>
          <a:lstStyle/>
          <a:p>
            <a:pPr algn="l"/>
            <a:r>
              <a:rPr sz="1300" b="0">
                <a:solidFill>
                  <a:srgbClr val="202020"/>
                </a:solidFill>
                <a:latin typeface="微软雅黑"/>
              </a:rPr>
              <a:t>[9]  Asai A, et al. Self-RAG: Learning to Retrieve, Generate, and Critique. ICLR 2024.</a:t>
            </a:r>
          </a:p>
        </p:txBody>
      </p:sp>
      <p:sp>
        <p:nvSpPr>
          <p:cNvPr id="27" name="Rectangle 26"/>
          <p:cNvSpPr/>
          <p:nvPr/>
        </p:nvSpPr>
        <p:spPr>
          <a:xfrm>
            <a:off x="274320" y="3160562956992"/>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3160562984424"/>
            <a:ext cx="11247120" cy="310896"/>
          </a:xfrm>
          <a:prstGeom prst="rect">
            <a:avLst/>
          </a:prstGeom>
          <a:noFill/>
        </p:spPr>
        <p:txBody>
          <a:bodyPr wrap="square">
            <a:spAutoFit/>
          </a:bodyPr>
          <a:lstStyle/>
          <a:p>
            <a:pPr algn="l"/>
            <a:r>
              <a:rPr sz="1300" b="0">
                <a:solidFill>
                  <a:srgbClr val="202020"/>
                </a:solidFill>
                <a:latin typeface="微软雅黑"/>
              </a:rPr>
              <a:t>[10] Gao Y, et al. Retrieval-Augmented Generation for Large Language Models: A Survey. arXiv 2024.</a:t>
            </a:r>
          </a:p>
        </p:txBody>
      </p:sp>
      <p:sp>
        <p:nvSpPr>
          <p:cNvPr id="29" name="Rectangle 28"/>
          <p:cNvSpPr/>
          <p:nvPr/>
        </p:nvSpPr>
        <p:spPr>
          <a:xfrm>
            <a:off x="274320" y="3511736448192"/>
            <a:ext cx="1152144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511736475624"/>
            <a:ext cx="11247120" cy="310896"/>
          </a:xfrm>
          <a:prstGeom prst="rect">
            <a:avLst/>
          </a:prstGeom>
          <a:noFill/>
        </p:spPr>
        <p:txBody>
          <a:bodyPr wrap="square">
            <a:spAutoFit/>
          </a:bodyPr>
          <a:lstStyle/>
          <a:p>
            <a:pPr algn="l"/>
            <a:r>
              <a:rPr sz="1300" b="0">
                <a:solidFill>
                  <a:srgbClr val="202020"/>
                </a:solidFill>
                <a:latin typeface="微软雅黑"/>
              </a:rPr>
              <a:t>[11] Yan S-Q, et al. Corrective Retrieval Augmented Generation (CRAG). arXiv 2024.</a:t>
            </a:r>
          </a:p>
        </p:txBody>
      </p:sp>
      <p:sp>
        <p:nvSpPr>
          <p:cNvPr id="31" name="Rectangle 30"/>
          <p:cNvSpPr/>
          <p:nvPr/>
        </p:nvSpPr>
        <p:spPr>
          <a:xfrm>
            <a:off x="274320" y="3862909939391"/>
            <a:ext cx="11521440" cy="365760"/>
          </a:xfrm>
          <a:prstGeom prst="rect">
            <a:avLst/>
          </a:prstGeom>
          <a:solidFill>
            <a:srgbClr val="EF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3862909966823"/>
            <a:ext cx="11247120" cy="310896"/>
          </a:xfrm>
          <a:prstGeom prst="rect">
            <a:avLst/>
          </a:prstGeom>
          <a:noFill/>
        </p:spPr>
        <p:txBody>
          <a:bodyPr wrap="square">
            <a:spAutoFit/>
          </a:bodyPr>
          <a:lstStyle/>
          <a:p>
            <a:pPr algn="l"/>
            <a:r>
              <a:rPr sz="1300" b="0">
                <a:solidFill>
                  <a:srgbClr val="202020"/>
                </a:solidFill>
                <a:latin typeface="微软雅黑"/>
              </a:rPr>
              <a:t>[12] Friel R, et al. RAGBench: Explainable Benchmark for RAG Systems. arXiv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